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</p:sldIdLst>
  <p:sldSz cy="5143500" cx="9144000"/>
  <p:notesSz cx="6858000" cy="9144000"/>
  <p:embeddedFontLst>
    <p:embeddedFont>
      <p:font typeface="Roboto"/>
      <p:regular r:id="rId34"/>
      <p:bold r:id="rId35"/>
      <p:italic r:id="rId36"/>
      <p:boldItalic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9DBBD59-6B8C-46C0-99B0-8FF59A404217}">
  <a:tblStyle styleId="{19DBBD59-6B8C-46C0-99B0-8FF59A404217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slide" Target="slides/slide23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11" Type="http://schemas.openxmlformats.org/officeDocument/2006/relationships/slide" Target="slides/slide5.xml"/><Relationship Id="rId33" Type="http://schemas.openxmlformats.org/officeDocument/2006/relationships/slide" Target="slides/slide27.xml"/><Relationship Id="rId10" Type="http://schemas.openxmlformats.org/officeDocument/2006/relationships/slide" Target="slides/slide4.xml"/><Relationship Id="rId32" Type="http://schemas.openxmlformats.org/officeDocument/2006/relationships/slide" Target="slides/slide26.xml"/><Relationship Id="rId13" Type="http://schemas.openxmlformats.org/officeDocument/2006/relationships/slide" Target="slides/slide7.xml"/><Relationship Id="rId35" Type="http://schemas.openxmlformats.org/officeDocument/2006/relationships/font" Target="fonts/Roboto-bold.fntdata"/><Relationship Id="rId12" Type="http://schemas.openxmlformats.org/officeDocument/2006/relationships/slide" Target="slides/slide6.xml"/><Relationship Id="rId34" Type="http://schemas.openxmlformats.org/officeDocument/2006/relationships/font" Target="fonts/Roboto-regular.fntdata"/><Relationship Id="rId15" Type="http://schemas.openxmlformats.org/officeDocument/2006/relationships/slide" Target="slides/slide9.xml"/><Relationship Id="rId37" Type="http://schemas.openxmlformats.org/officeDocument/2006/relationships/font" Target="fonts/Roboto-boldItalic.fntdata"/><Relationship Id="rId14" Type="http://schemas.openxmlformats.org/officeDocument/2006/relationships/slide" Target="slides/slide8.xml"/><Relationship Id="rId36" Type="http://schemas.openxmlformats.org/officeDocument/2006/relationships/font" Target="fonts/Roboto-italic.fntdata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e470d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e470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6c81a0d874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6c81a0d874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9e470d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6f9e470d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6f9e470d_0_2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c6f9e470d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c6f9e470d_0_3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c6f9e470d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6c3c34ac18_0_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6c3c34ac18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6c8a1c2ee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36c8a1c2ee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6c8a1c2ee4_0_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6c8a1c2ee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6c3c34ac18_0_7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" name="Google Shape;167;g36c3c34ac18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6c8a1c2ee4_0_1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6c8a1c2ee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6c81a0d874_0_73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6c81a0d87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36ef3a9b41e_0_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36ef3a9b41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6ef3a9b41e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6ef3a9b41e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g36ef3a9b41e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" name="Google Shape;208;g36ef3a9b41e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g36322528bbd_0_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4" name="Google Shape;214;g36322528bbd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6322528bbd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6322528bbd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g36322528bbd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g36322528bbd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6322528bbd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6322528bbd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6c8a1c2ee4_0_1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6c8a1c2ee4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g36c81a0d874_0_7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6" name="Google Shape;246;g36c81a0d874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6c819f72a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3" name="Google Shape;253;g36c819f72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c6f9e470d_0_8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c6f9e470d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g36ed286e278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3" name="Google Shape;273;g36ed286e2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36ef1ff581a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9" name="Google Shape;279;g36ef1ff581a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g36c3c34ac18_0_88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4" name="Google Shape;284;g36c3c34ac18_0_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c6f9e470d_0_47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2" name="Google Shape;312;gc6f9e470d_0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5" name="Shape 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6" name="Google Shape;346;g36c81a0d874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7" name="Google Shape;347;g36c81a0d87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11" name="Google Shape;11;p2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" name="Google Shape;14;p2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" name="Google Shape;15;p2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6" name="Google Shape;16;p2"/>
          <p:cNvSpPr txBox="1"/>
          <p:nvPr>
            <p:ph type="ctrTitle"/>
          </p:nvPr>
        </p:nvSpPr>
        <p:spPr>
          <a:xfrm>
            <a:off x="598100" y="1775222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" type="subTitle"/>
          </p:nvPr>
        </p:nvSpPr>
        <p:spPr>
          <a:xfrm>
            <a:off x="598088" y="2715913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100"/>
              <a:buNone/>
              <a:defRPr sz="2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" name="Google Shape;20;p3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21" name="Google Shape;21;p3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" name="Google Shape;22;p3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" name="Google Shape;23;p3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3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3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6" name="Google Shape;26;p3"/>
          <p:cNvSpPr txBox="1"/>
          <p:nvPr>
            <p:ph type="title"/>
          </p:nvPr>
        </p:nvSpPr>
        <p:spPr>
          <a:xfrm>
            <a:off x="598100" y="2152347"/>
            <a:ext cx="8222100" cy="83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7" name="Google Shape;27;p3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29;p4"/>
          <p:cNvGrpSpPr/>
          <p:nvPr/>
        </p:nvGrpSpPr>
        <p:grpSpPr>
          <a:xfrm>
            <a:off x="0" y="3903669"/>
            <a:ext cx="9144000" cy="1239925"/>
            <a:chOff x="0" y="3903669"/>
            <a:chExt cx="9144000" cy="1239925"/>
          </a:xfrm>
        </p:grpSpPr>
        <p:sp>
          <p:nvSpPr>
            <p:cNvPr id="30" name="Google Shape;30;p4"/>
            <p:cNvSpPr/>
            <p:nvPr/>
          </p:nvSpPr>
          <p:spPr>
            <a:xfrm>
              <a:off x="8154895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" name="Google Shape;31;p4"/>
            <p:cNvSpPr/>
            <p:nvPr/>
          </p:nvSpPr>
          <p:spPr>
            <a:xfrm flipH="1">
              <a:off x="6181163" y="3903669"/>
              <a:ext cx="989100" cy="9879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4"/>
            <p:cNvSpPr/>
            <p:nvPr/>
          </p:nvSpPr>
          <p:spPr>
            <a:xfrm>
              <a:off x="7170274" y="3903669"/>
              <a:ext cx="989100" cy="987900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4"/>
            <p:cNvSpPr/>
            <p:nvPr/>
          </p:nvSpPr>
          <p:spPr>
            <a:xfrm rot="10800000">
              <a:off x="8154757" y="3903682"/>
              <a:ext cx="989100" cy="9879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" name="Google Shape;34;p4"/>
            <p:cNvSpPr/>
            <p:nvPr/>
          </p:nvSpPr>
          <p:spPr>
            <a:xfrm>
              <a:off x="0" y="4891594"/>
              <a:ext cx="9144000" cy="2520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" name="Google Shape;35;p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7" name="Google Shape;37;p4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>
            <p:ph idx="1" type="body"/>
          </p:nvPr>
        </p:nvSpPr>
        <p:spPr>
          <a:xfrm>
            <a:off x="3117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5"/>
          <p:cNvSpPr txBox="1"/>
          <p:nvPr>
            <p:ph idx="2" type="body"/>
          </p:nvPr>
        </p:nvSpPr>
        <p:spPr>
          <a:xfrm>
            <a:off x="4832400" y="1229975"/>
            <a:ext cx="3999900" cy="333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2" name="Google Shape;42;p5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" name="Google Shape;48;p7"/>
          <p:cNvSpPr txBox="1"/>
          <p:nvPr>
            <p:ph idx="1" type="body"/>
          </p:nvPr>
        </p:nvSpPr>
        <p:spPr>
          <a:xfrm>
            <a:off x="311700" y="1465804"/>
            <a:ext cx="2808000" cy="3103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4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8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52" name="Google Shape;52;p8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" name="Google Shape;53;p8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" name="Google Shape;54;p8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" name="Google Shape;55;p8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" name="Google Shape;56;p8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7" name="Google Shape;57;p8"/>
          <p:cNvSpPr txBox="1"/>
          <p:nvPr>
            <p:ph type="title"/>
          </p:nvPr>
        </p:nvSpPr>
        <p:spPr>
          <a:xfrm>
            <a:off x="490250" y="526350"/>
            <a:ext cx="56187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8" name="Google Shape;58;p8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9"/>
          <p:cNvSpPr/>
          <p:nvPr/>
        </p:nvSpPr>
        <p:spPr>
          <a:xfrm>
            <a:off x="4572000" y="-1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61" name="Google Shape;6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9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63" name="Google Shape;63;p9"/>
          <p:cNvSpPr txBox="1"/>
          <p:nvPr>
            <p:ph idx="1" type="subTitle"/>
          </p:nvPr>
        </p:nvSpPr>
        <p:spPr>
          <a:xfrm>
            <a:off x="265500" y="2769001"/>
            <a:ext cx="4045200" cy="126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64" name="Google Shape;6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0"/>
          <p:cNvSpPr txBox="1"/>
          <p:nvPr>
            <p:ph idx="1" type="body"/>
          </p:nvPr>
        </p:nvSpPr>
        <p:spPr>
          <a:xfrm>
            <a:off x="319500" y="423057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70;p11"/>
          <p:cNvGrpSpPr/>
          <p:nvPr/>
        </p:nvGrpSpPr>
        <p:grpSpPr>
          <a:xfrm>
            <a:off x="6098378" y="5"/>
            <a:ext cx="3045625" cy="2030570"/>
            <a:chOff x="6098378" y="5"/>
            <a:chExt cx="3045625" cy="2030570"/>
          </a:xfrm>
        </p:grpSpPr>
        <p:sp>
          <p:nvSpPr>
            <p:cNvPr id="71" name="Google Shape;71;p11"/>
            <p:cNvSpPr/>
            <p:nvPr/>
          </p:nvSpPr>
          <p:spPr>
            <a:xfrm>
              <a:off x="8128803" y="16"/>
              <a:ext cx="1015200" cy="10152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" name="Google Shape;72;p11"/>
            <p:cNvSpPr/>
            <p:nvPr/>
          </p:nvSpPr>
          <p:spPr>
            <a:xfrm flipH="1">
              <a:off x="7113463" y="5"/>
              <a:ext cx="1015200" cy="1015200"/>
            </a:xfrm>
            <a:prstGeom prst="rtTriangl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" name="Google Shape;73;p11"/>
            <p:cNvSpPr/>
            <p:nvPr/>
          </p:nvSpPr>
          <p:spPr>
            <a:xfrm flipH="1" rot="10800000">
              <a:off x="7113588" y="107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" name="Google Shape;74;p11"/>
            <p:cNvSpPr/>
            <p:nvPr/>
          </p:nvSpPr>
          <p:spPr>
            <a:xfrm rot="10800000">
              <a:off x="6098378" y="97"/>
              <a:ext cx="1015200" cy="1015200"/>
            </a:xfrm>
            <a:prstGeom prst="rtTriangle">
              <a:avLst/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" name="Google Shape;75;p11"/>
            <p:cNvSpPr/>
            <p:nvPr/>
          </p:nvSpPr>
          <p:spPr>
            <a:xfrm rot="10800000">
              <a:off x="8128789" y="1015375"/>
              <a:ext cx="1015200" cy="1015200"/>
            </a:xfrm>
            <a:prstGeom prst="rtTriangle">
              <a:avLst/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6" name="Google Shape;76;p11"/>
          <p:cNvSpPr txBox="1"/>
          <p:nvPr>
            <p:ph hasCustomPrompt="1" type="title"/>
          </p:nvPr>
        </p:nvSpPr>
        <p:spPr>
          <a:xfrm>
            <a:off x="311700" y="1256050"/>
            <a:ext cx="8520600" cy="2030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0"/>
              <a:buNone/>
              <a:defRPr sz="12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7" name="Google Shape;77;p11"/>
          <p:cNvSpPr txBox="1"/>
          <p:nvPr>
            <p:ph idx="1" type="body"/>
          </p:nvPr>
        </p:nvSpPr>
        <p:spPr>
          <a:xfrm>
            <a:off x="311700" y="3369225"/>
            <a:ext cx="8520600" cy="128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8" name="Google Shape;78;p1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2"/>
                </a:solidFill>
              </a:defRPr>
            </a:lvl1pPr>
            <a:lvl2pPr lvl="1">
              <a:buNone/>
              <a:defRPr>
                <a:solidFill>
                  <a:schemeClr val="dk2"/>
                </a:solidFill>
              </a:defRPr>
            </a:lvl2pPr>
            <a:lvl3pPr lvl="2">
              <a:buNone/>
              <a:defRPr>
                <a:solidFill>
                  <a:schemeClr val="dk2"/>
                </a:solidFill>
              </a:defRPr>
            </a:lvl3pPr>
            <a:lvl4pPr lvl="3">
              <a:buNone/>
              <a:defRPr>
                <a:solidFill>
                  <a:schemeClr val="dk2"/>
                </a:solidFill>
              </a:defRPr>
            </a:lvl4pPr>
            <a:lvl5pPr lvl="4">
              <a:buNone/>
              <a:defRPr>
                <a:solidFill>
                  <a:schemeClr val="dk2"/>
                </a:solidFill>
              </a:defRPr>
            </a:lvl5pPr>
            <a:lvl6pPr lvl="5">
              <a:buNone/>
              <a:defRPr>
                <a:solidFill>
                  <a:schemeClr val="dk2"/>
                </a:solidFill>
              </a:defRPr>
            </a:lvl6pPr>
            <a:lvl7pPr lvl="6">
              <a:buNone/>
              <a:defRPr>
                <a:solidFill>
                  <a:schemeClr val="dk2"/>
                </a:solidFill>
              </a:defRPr>
            </a:lvl7pPr>
            <a:lvl8pPr lvl="7">
              <a:buNone/>
              <a:defRPr>
                <a:solidFill>
                  <a:schemeClr val="dk2"/>
                </a:solidFill>
              </a:defRPr>
            </a:lvl8pPr>
            <a:lvl9pPr lvl="8">
              <a:buNone/>
              <a:defRPr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geometr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Roboto"/>
              <a:buNone/>
              <a:defRPr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29875"/>
            <a:ext cx="8520600" cy="333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  <a:defRPr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●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oboto"/>
              <a:buChar char="○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Roboto"/>
              <a:buChar char="■"/>
              <a:defRPr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60431" y="4651190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7.png"/><Relationship Id="rId5" Type="http://schemas.openxmlformats.org/officeDocument/2006/relationships/image" Target="../media/image1.png"/><Relationship Id="rId6" Type="http://schemas.openxmlformats.org/officeDocument/2006/relationships/hyperlink" Target="https://github.com/frit2x/WS24_25-ProjGrp_IMTECH_AVR2025-TextureSound/blob/main/Assets/Scenes/Glas.unity" TargetMode="External"/><Relationship Id="rId7" Type="http://schemas.openxmlformats.org/officeDocument/2006/relationships/hyperlink" Target="https://github.com/frit2x/WS24_25-ProjGrp_IMTECH_AVR2025-TextureSound/blob/main/Assets/Scenes/Glas.unity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3dtextures.me" TargetMode="External"/><Relationship Id="rId4" Type="http://schemas.openxmlformats.org/officeDocument/2006/relationships/hyperlink" Target="https://www.poliigon.com/" TargetMode="External"/><Relationship Id="rId5" Type="http://schemas.openxmlformats.org/officeDocument/2006/relationships/hyperlink" Target="https://pixabay.com/sound-effects/" TargetMode="External"/><Relationship Id="rId6" Type="http://schemas.openxmlformats.org/officeDocument/2006/relationships/hyperlink" Target="https://github.com/AVR2025-TextureSound/AVR2025-TextureSound/blob/main/Dokumentation%20(einzelne%20Szenen)/Video_Scene-Glas_jacque-schu.mp4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3.png"/><Relationship Id="rId4" Type="http://schemas.openxmlformats.org/officeDocument/2006/relationships/hyperlink" Target="https://github.com/frit2x/WS24_25-ProjGrp_IMTECH_AVR2025-TextureSound/blob/main/Assets/Scenes/Metall.unity" TargetMode="External"/><Relationship Id="rId5" Type="http://schemas.openxmlformats.org/officeDocument/2006/relationships/image" Target="../media/image14.png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github.com/AVR2025-TextureSound/AVR2025-TextureSound/blob/main/Dokumentation%20(einzelne%20Szenen)/Video_Scene_Metall_verakmr.mp4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hyperlink" Target="https://github.com/frit2x/WS24_25-ProjGrp_IMTECH_AVR2025-TextureSound/blob/main/Assets/Scenes/Sandpapier.unity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1.png"/><Relationship Id="rId5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AVR2025-TextureSound/AVR2025-TextureSound/blob/main/Dokumentation%20(einzelne%20Szenen)/Video_Scene_Sandpapier_1.mp4" TargetMode="External"/><Relationship Id="rId4" Type="http://schemas.openxmlformats.org/officeDocument/2006/relationships/hyperlink" Target="https://github.com/AVR2025-TextureSound/AVR2025-TextureSound/blob/main/Dokumentation%20(einzelne%20Szenen)/Video_Scene_Sandpapier_1.mp4" TargetMode="External"/><Relationship Id="rId5" Type="http://schemas.openxmlformats.org/officeDocument/2006/relationships/image" Target="../media/image15.jpg"/><Relationship Id="rId6" Type="http://schemas.openxmlformats.org/officeDocument/2006/relationships/image" Target="../media/image8.png"/><Relationship Id="rId7" Type="http://schemas.openxmlformats.org/officeDocument/2006/relationships/image" Target="../media/image3.jpg"/><Relationship Id="rId8" Type="http://schemas.openxmlformats.org/officeDocument/2006/relationships/image" Target="../media/image9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hyperlink" Target="http://collider.cs" TargetMode="Externa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s://github.com/AVR2025-TextureSound/AVR2025-TextureSound/blob/main/Dokumentation%20(einzelne%20Szenen)/Video_Scene_Sandpapier_2.mp4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frit2x/WS24_25-ProjGrp_IMTECH_AVR2025-TextureSound/blob/main/Assets/Scenes/Holz.unity" TargetMode="External"/><Relationship Id="rId4" Type="http://schemas.openxmlformats.org/officeDocument/2006/relationships/hyperlink" Target="https://github.com/frit2x/WS24_25-ProjGrp_IMTECH_AVR2025-TextureSound/blob/main/Assets/Scenes/Holz.unity" TargetMode="External"/><Relationship Id="rId5" Type="http://schemas.openxmlformats.org/officeDocument/2006/relationships/hyperlink" Target="https://github.com/frit2x/WS24_25-ProjGrp_IMTECH_AVR2025-TextureSound/blob/main/Assets/Scenes/Holz.unity" TargetMode="External"/><Relationship Id="rId6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0.xml"/><Relationship Id="rId3" Type="http://schemas.openxmlformats.org/officeDocument/2006/relationships/hyperlink" Target="https://assetstore.unity.com/packages/2d/textures-materials/floors/realistic-terrain-textures-free-279940" TargetMode="External"/><Relationship Id="rId4" Type="http://schemas.openxmlformats.org/officeDocument/2006/relationships/hyperlink" Target="https://assetstore.unity.com/packages/3d/props/black-cherry-firewood-01-307298" TargetMode="External"/><Relationship Id="rId5" Type="http://schemas.openxmlformats.org/officeDocument/2006/relationships/hyperlink" Target="https://github.com/AVR2025-TextureSound/AVR2025-TextureSound/blob/main/Dokumentation%20(einzelne%20Szenen)/Video_Scene-Holz_Anna_Bremensztul.mp4" TargetMode="Externa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3.xml"/><Relationship Id="rId3" Type="http://schemas.openxmlformats.org/officeDocument/2006/relationships/hyperlink" Target="https://github.com/frit2x/WS24_25-ProjGrp_IMTECH_AVR2025-TextureSound/tree/main" TargetMode="External"/><Relationship Id="rId4" Type="http://schemas.openxmlformats.org/officeDocument/2006/relationships/hyperlink" Target="https://github.com/AVR2025-TextureSound/AVR2025-TextureSound/tree/main/Dokumentation%20(einzelne%20Szenen)" TargetMode="External"/><Relationship Id="rId5" Type="http://schemas.openxmlformats.org/officeDocument/2006/relationships/hyperlink" Target="https://github.com/AVR2025-TextureSound/AVR2025-TextureSound/tree/main/Concept" TargetMode="Externa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7.xml"/><Relationship Id="rId3" Type="http://schemas.openxmlformats.org/officeDocument/2006/relationships/hyperlink" Target="https://www.poliigon.com/textures/free" TargetMode="External"/><Relationship Id="rId4" Type="http://schemas.openxmlformats.org/officeDocument/2006/relationships/hyperlink" Target="https://pixabay.com/sound-effects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3"/>
          <p:cNvSpPr txBox="1"/>
          <p:nvPr>
            <p:ph type="ctrTitle"/>
          </p:nvPr>
        </p:nvSpPr>
        <p:spPr>
          <a:xfrm>
            <a:off x="598100" y="1732947"/>
            <a:ext cx="8222100" cy="83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Team AVR2025</a:t>
            </a:r>
            <a:r>
              <a:rPr lang="de"/>
              <a:t> </a:t>
            </a:r>
            <a:r>
              <a:rPr lang="de"/>
              <a:t>- TextureSound</a:t>
            </a:r>
            <a:endParaRPr/>
          </a:p>
        </p:txBody>
      </p:sp>
      <p:sp>
        <p:nvSpPr>
          <p:cNvPr id="86" name="Google Shape;86;p13"/>
          <p:cNvSpPr txBox="1"/>
          <p:nvPr>
            <p:ph idx="1" type="subTitle"/>
          </p:nvPr>
        </p:nvSpPr>
        <p:spPr>
          <a:xfrm>
            <a:off x="598100" y="2715964"/>
            <a:ext cx="8222100" cy="181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Oberflächeneigenschaften vermitteln durch Sound und Vibration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400"/>
              <a:t>Ein Teamprojekt von: </a:t>
            </a:r>
            <a:endParaRPr i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400"/>
              <a:t>Anna Bremensztul, Heike Fritz, </a:t>
            </a:r>
            <a:r>
              <a:rPr i="1" lang="de" sz="1400"/>
              <a:t>Vera Kammerer,</a:t>
            </a:r>
            <a:r>
              <a:rPr i="1" lang="de" sz="1400"/>
              <a:t> Jacqueline Schulz</a:t>
            </a:r>
            <a:endParaRPr i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400"/>
              <a:t>Im Modul Augmented &amp; Virtual Reality</a:t>
            </a:r>
            <a:endParaRPr i="1"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de" sz="1400"/>
              <a:t>SoSe 2025.</a:t>
            </a:r>
            <a:endParaRPr i="1"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4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3000"/>
              <a:t>Gliederung</a:t>
            </a:r>
            <a:endParaRPr sz="3000"/>
          </a:p>
        </p:txBody>
      </p:sp>
      <p:sp>
        <p:nvSpPr>
          <p:cNvPr id="92" name="Google Shape;92;p14"/>
          <p:cNvSpPr txBox="1"/>
          <p:nvPr>
            <p:ph idx="2" type="body"/>
          </p:nvPr>
        </p:nvSpPr>
        <p:spPr>
          <a:xfrm>
            <a:off x="50308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AutoNum type="arabicPeriod"/>
            </a:pPr>
            <a:r>
              <a:rPr lang="de"/>
              <a:t>Einführung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AutoNum type="arabicPeriod"/>
            </a:pPr>
            <a:r>
              <a:rPr lang="de"/>
              <a:t>Projektumfang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AutoNum type="arabicPeriod"/>
            </a:pPr>
            <a:r>
              <a:rPr lang="de"/>
              <a:t>Technische Umsetzung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AutoNum type="arabicPeriod"/>
            </a:pPr>
            <a:r>
              <a:rPr lang="de"/>
              <a:t>Herausforderungen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AutoNum type="arabicPeriod"/>
            </a:pPr>
            <a:r>
              <a:rPr lang="de"/>
              <a:t>Ausblick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AutoNum type="arabicPeriod"/>
            </a:pPr>
            <a:r>
              <a:rPr lang="de"/>
              <a:t>Team &amp; Aufgabenverteilung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Roboto"/>
              <a:buAutoNum type="arabicPeriod"/>
            </a:pPr>
            <a:r>
              <a:rPr lang="de"/>
              <a:t>Projektplan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Einführung</a:t>
            </a:r>
            <a:endParaRPr/>
          </a:p>
        </p:txBody>
      </p:sp>
      <p:grpSp>
        <p:nvGrpSpPr>
          <p:cNvPr id="98" name="Google Shape;98;p15"/>
          <p:cNvGrpSpPr/>
          <p:nvPr/>
        </p:nvGrpSpPr>
        <p:grpSpPr>
          <a:xfrm>
            <a:off x="431925" y="1304875"/>
            <a:ext cx="2628925" cy="3416400"/>
            <a:chOff x="431925" y="1304875"/>
            <a:chExt cx="2628925" cy="3416400"/>
          </a:xfrm>
        </p:grpSpPr>
        <p:sp>
          <p:nvSpPr>
            <p:cNvPr id="99" name="Google Shape;99;p15"/>
            <p:cNvSpPr txBox="1"/>
            <p:nvPr/>
          </p:nvSpPr>
          <p:spPr>
            <a:xfrm>
              <a:off x="431925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" name="Google Shape;100;p15"/>
            <p:cNvSpPr/>
            <p:nvPr/>
          </p:nvSpPr>
          <p:spPr>
            <a:xfrm>
              <a:off x="4319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1" name="Google Shape;101;p15"/>
          <p:cNvSpPr txBox="1"/>
          <p:nvPr>
            <p:ph idx="4294967295" type="body"/>
          </p:nvPr>
        </p:nvSpPr>
        <p:spPr>
          <a:xfrm>
            <a:off x="50642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lt1"/>
                </a:solidFill>
              </a:rPr>
              <a:t>Ziele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02" name="Google Shape;102;p15"/>
          <p:cNvGrpSpPr/>
          <p:nvPr/>
        </p:nvGrpSpPr>
        <p:grpSpPr>
          <a:xfrm>
            <a:off x="3320450" y="1304875"/>
            <a:ext cx="2632500" cy="3416400"/>
            <a:chOff x="3320450" y="1304875"/>
            <a:chExt cx="2632500" cy="3416400"/>
          </a:xfrm>
        </p:grpSpPr>
        <p:sp>
          <p:nvSpPr>
            <p:cNvPr id="103" name="Google Shape;103;p15"/>
            <p:cNvSpPr txBox="1"/>
            <p:nvPr/>
          </p:nvSpPr>
          <p:spPr>
            <a:xfrm>
              <a:off x="3324050" y="1304875"/>
              <a:ext cx="26289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" name="Google Shape;104;p15"/>
            <p:cNvSpPr/>
            <p:nvPr/>
          </p:nvSpPr>
          <p:spPr>
            <a:xfrm>
              <a:off x="332045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05" name="Google Shape;105;p15"/>
          <p:cNvSpPr txBox="1"/>
          <p:nvPr>
            <p:ph idx="4294967295" type="body"/>
          </p:nvPr>
        </p:nvSpPr>
        <p:spPr>
          <a:xfrm>
            <a:off x="3389450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lt1"/>
                </a:solidFill>
              </a:rPr>
              <a:t>Zweck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06" name="Google Shape;106;p15"/>
          <p:cNvSpPr txBox="1"/>
          <p:nvPr>
            <p:ph idx="4294967295" type="body"/>
          </p:nvPr>
        </p:nvSpPr>
        <p:spPr>
          <a:xfrm>
            <a:off x="3320450" y="1766275"/>
            <a:ext cx="2632500" cy="29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de" sz="1600">
                <a:solidFill>
                  <a:srgbClr val="000000"/>
                </a:solidFill>
              </a:rPr>
              <a:t>Erkenntnisse für das Design immersiver und realistischer VR-Erlebnisse gewinnen, um Multisensorik gezielt für mehr Präsenz und Nutzererlebnis einzusetzen.</a:t>
            </a:r>
            <a:endParaRPr sz="2000"/>
          </a:p>
        </p:txBody>
      </p:sp>
      <p:grpSp>
        <p:nvGrpSpPr>
          <p:cNvPr id="107" name="Google Shape;107;p15"/>
          <p:cNvGrpSpPr/>
          <p:nvPr/>
        </p:nvGrpSpPr>
        <p:grpSpPr>
          <a:xfrm>
            <a:off x="6212550" y="1304875"/>
            <a:ext cx="2632500" cy="3416400"/>
            <a:chOff x="6212550" y="1304875"/>
            <a:chExt cx="2632500" cy="3416400"/>
          </a:xfrm>
        </p:grpSpPr>
        <p:sp>
          <p:nvSpPr>
            <p:cNvPr id="108" name="Google Shape;108;p15"/>
            <p:cNvSpPr/>
            <p:nvPr/>
          </p:nvSpPr>
          <p:spPr>
            <a:xfrm>
              <a:off x="6215400" y="1304875"/>
              <a:ext cx="2628900" cy="3416400"/>
            </a:xfrm>
            <a:prstGeom prst="rect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" name="Google Shape;109;p15"/>
            <p:cNvSpPr txBox="1"/>
            <p:nvPr/>
          </p:nvSpPr>
          <p:spPr>
            <a:xfrm>
              <a:off x="6212550" y="1304875"/>
              <a:ext cx="2632500" cy="4641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0" name="Google Shape;110;p15"/>
          <p:cNvSpPr txBox="1"/>
          <p:nvPr>
            <p:ph idx="4294967295" type="body"/>
          </p:nvPr>
        </p:nvSpPr>
        <p:spPr>
          <a:xfrm>
            <a:off x="6272475" y="1304875"/>
            <a:ext cx="2494500" cy="461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lt1"/>
                </a:solidFill>
              </a:rPr>
              <a:t>Zielgruppe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11" name="Google Shape;111;p15"/>
          <p:cNvSpPr txBox="1"/>
          <p:nvPr>
            <p:ph idx="4294967295" type="body"/>
          </p:nvPr>
        </p:nvSpPr>
        <p:spPr>
          <a:xfrm>
            <a:off x="6212550" y="1766300"/>
            <a:ext cx="2632500" cy="29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de" sz="1600"/>
              <a:t>UX/HCI-Studierende, VR-Designer:innen, Forschende im Bereich multisensorische Wahrnehmung</a:t>
            </a:r>
            <a:endParaRPr sz="1600"/>
          </a:p>
        </p:txBody>
      </p:sp>
      <p:sp>
        <p:nvSpPr>
          <p:cNvPr id="112" name="Google Shape;112;p15"/>
          <p:cNvSpPr txBox="1"/>
          <p:nvPr>
            <p:ph idx="4294967295" type="body"/>
          </p:nvPr>
        </p:nvSpPr>
        <p:spPr>
          <a:xfrm>
            <a:off x="431925" y="1766275"/>
            <a:ext cx="2632500" cy="295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de" sz="1600">
                <a:solidFill>
                  <a:srgbClr val="000000"/>
                </a:solidFill>
              </a:rPr>
              <a:t>Untersuchung, wie Haptik-Komplexität, Klang und Textur gemeinsam die Wahrnehmung und Immersion in VR-Umgebungen beeinflussen.</a:t>
            </a:r>
            <a:endParaRPr sz="1600">
              <a:solidFill>
                <a:srgbClr val="000000"/>
              </a:solidFill>
            </a:endParaRPr>
          </a:p>
          <a:p>
            <a:pPr indent="0" lvl="0" marL="0" rtl="0" algn="l">
              <a:spcBef>
                <a:spcPts val="60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6"/>
          <p:cNvSpPr txBox="1"/>
          <p:nvPr>
            <p:ph idx="4294967295" type="body"/>
          </p:nvPr>
        </p:nvSpPr>
        <p:spPr>
          <a:xfrm>
            <a:off x="5965325" y="2070575"/>
            <a:ext cx="27606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de" sz="1600"/>
              <a:t>Nutzung des XR Interaction Toolkit um Objekte greifbar und beweglich zu machen. Erstellung und Implementierung eigener Scripte um beim Berühren und Greifen bestimmte Aktionen &amp; Sounds auszulösen.</a:t>
            </a:r>
            <a:endParaRPr sz="1600"/>
          </a:p>
        </p:txBody>
      </p:sp>
      <p:sp>
        <p:nvSpPr>
          <p:cNvPr id="118" name="Google Shape;118;p16"/>
          <p:cNvSpPr txBox="1"/>
          <p:nvPr>
            <p:ph idx="4294967295" type="body"/>
          </p:nvPr>
        </p:nvSpPr>
        <p:spPr>
          <a:xfrm>
            <a:off x="3047250" y="2070575"/>
            <a:ext cx="27606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800"/>
              </a:spcAft>
              <a:buNone/>
            </a:pPr>
            <a:r>
              <a:rPr lang="de" sz="16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Visualisierung von Materialeigenschaften über Texturen und Shader in UNITY. Anpassung der Physik-Eigenschaften zur Simulation von Gewicht /Härte. Verknüpfen von Materialeigenschaften mit passenden haptischen Mustern. </a:t>
            </a:r>
            <a:endParaRPr sz="1600"/>
          </a:p>
        </p:txBody>
      </p:sp>
      <p:sp>
        <p:nvSpPr>
          <p:cNvPr id="119" name="Google Shape;119;p16"/>
          <p:cNvSpPr txBox="1"/>
          <p:nvPr>
            <p:ph idx="4294967295" type="body"/>
          </p:nvPr>
        </p:nvSpPr>
        <p:spPr>
          <a:xfrm>
            <a:off x="432350" y="2070575"/>
            <a:ext cx="2471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Erstellung von Objekten in </a:t>
            </a:r>
            <a:r>
              <a:rPr b="1" lang="de" sz="16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Blender</a:t>
            </a:r>
            <a:r>
              <a:rPr lang="de" sz="1600">
                <a:solidFill>
                  <a:srgbClr val="1F2328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. Jedes Objekt steht für eine Materialeigenschaft.</a:t>
            </a:r>
            <a:endParaRPr sz="16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de" sz="1600"/>
              <a:t>Eigenschaft/</a:t>
            </a:r>
            <a:r>
              <a:rPr lang="de" sz="1600"/>
              <a:t>Objekt</a:t>
            </a:r>
            <a:r>
              <a:rPr b="1" lang="de" sz="1600"/>
              <a:t>:</a:t>
            </a:r>
            <a:endParaRPr b="1" sz="16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None/>
            </a:pPr>
            <a:r>
              <a:rPr b="1" lang="de" sz="1600"/>
              <a:t>Glatt: </a:t>
            </a:r>
            <a:r>
              <a:rPr lang="de" sz="1600"/>
              <a:t>Glas, Metall</a:t>
            </a:r>
            <a:endParaRPr sz="1600"/>
          </a:p>
          <a:p>
            <a:pPr indent="0" lvl="0" marL="0" rtl="0" algn="l">
              <a:lnSpc>
                <a:spcPct val="100000"/>
              </a:lnSpc>
              <a:spcBef>
                <a:spcPts val="800"/>
              </a:spcBef>
              <a:spcAft>
                <a:spcPts val="800"/>
              </a:spcAft>
              <a:buNone/>
            </a:pPr>
            <a:r>
              <a:rPr b="1" lang="de" sz="1600"/>
              <a:t>Rau:</a:t>
            </a:r>
            <a:r>
              <a:rPr lang="de" sz="1600"/>
              <a:t> Holz, Sandpapier</a:t>
            </a:r>
            <a:endParaRPr sz="1600"/>
          </a:p>
        </p:txBody>
      </p:sp>
      <p:sp>
        <p:nvSpPr>
          <p:cNvPr id="120" name="Google Shape;120;p1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Projektumfang</a:t>
            </a:r>
            <a:endParaRPr/>
          </a:p>
        </p:txBody>
      </p:sp>
      <p:sp>
        <p:nvSpPr>
          <p:cNvPr id="121" name="Google Shape;121;p16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16"/>
          <p:cNvSpPr txBox="1"/>
          <p:nvPr>
            <p:ph idx="4294967295" type="body"/>
          </p:nvPr>
        </p:nvSpPr>
        <p:spPr>
          <a:xfrm>
            <a:off x="4323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lt1"/>
                </a:solidFill>
              </a:rPr>
              <a:t>Erstellung von Objekten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3" name="Google Shape;123;p16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16"/>
          <p:cNvSpPr txBox="1"/>
          <p:nvPr>
            <p:ph idx="4294967295" type="body"/>
          </p:nvPr>
        </p:nvSpPr>
        <p:spPr>
          <a:xfrm>
            <a:off x="33361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lt1"/>
                </a:solidFill>
              </a:rPr>
              <a:t>Material- eigenschaften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125" name="Google Shape;125;p16"/>
          <p:cNvSpPr/>
          <p:nvPr/>
        </p:nvSpPr>
        <p:spPr>
          <a:xfrm>
            <a:off x="594850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16"/>
          <p:cNvSpPr txBox="1"/>
          <p:nvPr>
            <p:ph idx="4294967295" type="body"/>
          </p:nvPr>
        </p:nvSpPr>
        <p:spPr>
          <a:xfrm>
            <a:off x="6254233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lt1"/>
                </a:solidFill>
              </a:rPr>
              <a:t>Interaktion &amp; Haptik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17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Vorstellung der Arbeit der einzelnen Teammitglieder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de"/>
              <a:t>Szene: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Glas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Metall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Sandpapier </a:t>
            </a:r>
            <a:endParaRPr/>
          </a:p>
          <a:p>
            <a:pPr indent="-3429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de"/>
              <a:t>Holz</a:t>
            </a:r>
            <a:endParaRPr/>
          </a:p>
        </p:txBody>
      </p:sp>
      <p:sp>
        <p:nvSpPr>
          <p:cNvPr id="132" name="Google Shape;132;p17"/>
          <p:cNvSpPr txBox="1"/>
          <p:nvPr>
            <p:ph type="title"/>
          </p:nvPr>
        </p:nvSpPr>
        <p:spPr>
          <a:xfrm>
            <a:off x="265500" y="1151100"/>
            <a:ext cx="4045200" cy="1564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3000"/>
              <a:t>Technische Umsetzung</a:t>
            </a:r>
            <a:endParaRPr sz="3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Objekt (Szene): Glas</a:t>
            </a:r>
            <a:endParaRPr sz="16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311700" y="4472400"/>
            <a:ext cx="8520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2"/>
                </a:solidFill>
                <a:highlight>
                  <a:srgbClr val="B6D7A8"/>
                </a:highlight>
                <a:latin typeface="Roboto"/>
                <a:ea typeface="Roboto"/>
                <a:cs typeface="Roboto"/>
                <a:sym typeface="Roboto"/>
              </a:rPr>
              <a:t>Objects_Simple: Glas_1 &amp; Flasche_1</a:t>
            </a:r>
            <a:r>
              <a:rPr lang="de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de" sz="1300">
                <a:solidFill>
                  <a:schemeClr val="dk2"/>
                </a:solidFill>
                <a:highlight>
                  <a:srgbClr val="FFE599"/>
                </a:highlight>
                <a:latin typeface="Roboto"/>
                <a:ea typeface="Roboto"/>
                <a:cs typeface="Roboto"/>
                <a:sym typeface="Roboto"/>
              </a:rPr>
              <a:t>Objects_Material: Glas_2 &amp; Flasche_2</a:t>
            </a:r>
            <a:r>
              <a:rPr lang="de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| </a:t>
            </a:r>
            <a:r>
              <a:rPr lang="de" sz="1300">
                <a:solidFill>
                  <a:schemeClr val="dk2"/>
                </a:solidFill>
                <a:highlight>
                  <a:srgbClr val="EA9999"/>
                </a:highlight>
                <a:latin typeface="Roboto"/>
                <a:ea typeface="Roboto"/>
                <a:cs typeface="Roboto"/>
                <a:sym typeface="Roboto"/>
              </a:rPr>
              <a:t>Objects_Broken: Glas_3 &amp; Flasche_3</a:t>
            </a:r>
            <a:endParaRPr sz="1300">
              <a:solidFill>
                <a:schemeClr val="dk2"/>
              </a:solidFill>
              <a:highlight>
                <a:srgbClr val="EA9999"/>
              </a:highlight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>
            <a:off x="311700" y="4206525"/>
            <a:ext cx="1848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Objekte: </a:t>
            </a:r>
            <a:endParaRPr b="1" sz="1300"/>
          </a:p>
        </p:txBody>
      </p:sp>
      <p:pic>
        <p:nvPicPr>
          <p:cNvPr id="140" name="Google Shape;140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649" y="1438875"/>
            <a:ext cx="1740875" cy="274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52525" y="1438875"/>
            <a:ext cx="4627845" cy="2747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37600" y="1438875"/>
            <a:ext cx="2009649" cy="2747101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311700" y="1033413"/>
            <a:ext cx="8335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Szene: </a:t>
            </a:r>
            <a:r>
              <a:rPr lang="de" sz="13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WS24_25-ProjGrp_IMTECH_AVR2025-TextureSound\Assets\Scenes\</a:t>
            </a:r>
            <a:r>
              <a:rPr b="1" lang="de" sz="13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7"/>
              </a:rPr>
              <a:t>Glas.unity</a:t>
            </a:r>
            <a:endParaRPr b="1"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Objekt (Szene): Glas</a:t>
            </a:r>
            <a:endParaRPr sz="16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49" name="Google Shape;149;p19"/>
          <p:cNvGraphicFramePr/>
          <p:nvPr/>
        </p:nvGraphicFramePr>
        <p:xfrm>
          <a:off x="403200" y="11506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{19DBBD59-6B8C-46C0-99B0-8FF59A404217}</a:tableStyleId>
              </a:tblPr>
              <a:tblGrid>
                <a:gridCol w="1633000"/>
                <a:gridCol w="4400725"/>
                <a:gridCol w="2395300"/>
              </a:tblGrid>
              <a:tr h="3611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Modellierung: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Glas, Flasche, zerbrochenes Glas (Scherben)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Blender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9446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Texturierung: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Base Color (Albedo), Normal Map, Height Map, Roughness Map, Metallic Map und Ambient Occlusion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Free Texture Assets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2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3D Textures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2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/>
                        </a:rPr>
                        <a:t>Poliigon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750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Interaktionen: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Greifen, Bewegen, Erzeugen von Sound, Änderung der Objekteigenschaft vom Glasobjekt zu zerbrochenem Glas (Scherben)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Scripte, Free Sound Assets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200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5"/>
                        </a:rPr>
                        <a:t>100,000+ Free Sound Effects for Download - Pixabay</a:t>
                      </a:r>
                      <a:endParaRPr sz="12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678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Benutzerführung: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ToolTips zur Auswahl der Objekte und kurze Beschreibung der Eigenschaften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Unity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50" name="Google Shape;150;p19"/>
          <p:cNvSpPr txBox="1"/>
          <p:nvPr/>
        </p:nvSpPr>
        <p:spPr>
          <a:xfrm>
            <a:off x="403200" y="4125675"/>
            <a:ext cx="78591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Link zum Video:</a:t>
            </a:r>
            <a:r>
              <a:rPr lang="de"/>
              <a:t> </a:t>
            </a:r>
            <a:r>
              <a:rPr b="1" lang="de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6"/>
              </a:rPr>
              <a:t>Video</a:t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Objekt (Szene): Metall</a:t>
            </a:r>
            <a:endParaRPr sz="16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56" name="Google Shape;15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12400" y="1479500"/>
            <a:ext cx="6819901" cy="3489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20"/>
          <p:cNvSpPr txBox="1"/>
          <p:nvPr/>
        </p:nvSpPr>
        <p:spPr>
          <a:xfrm>
            <a:off x="311700" y="1017800"/>
            <a:ext cx="79005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Szene</a:t>
            </a: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: </a:t>
            </a:r>
            <a:r>
              <a:rPr lang="de" sz="13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WS24_25-ProjGrp_IMTECH_AVR2025-TextureSound/Assets/Scenes/Metall.unity</a:t>
            </a:r>
            <a:endParaRPr b="1"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58" name="Google Shape;15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11702" y="1479502"/>
            <a:ext cx="2683650" cy="14511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9" name="Google Shape;159;p20"/>
          <p:cNvCxnSpPr/>
          <p:nvPr/>
        </p:nvCxnSpPr>
        <p:spPr>
          <a:xfrm>
            <a:off x="2610600" y="2382000"/>
            <a:ext cx="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20"/>
          <p:cNvCxnSpPr/>
          <p:nvPr/>
        </p:nvCxnSpPr>
        <p:spPr>
          <a:xfrm>
            <a:off x="2528325" y="2574025"/>
            <a:ext cx="1275600" cy="142650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1" name="Google Shape;161;p20"/>
          <p:cNvCxnSpPr/>
          <p:nvPr/>
        </p:nvCxnSpPr>
        <p:spPr>
          <a:xfrm>
            <a:off x="2692900" y="2409450"/>
            <a:ext cx="2290500" cy="163230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2" name="Google Shape;162;p20"/>
          <p:cNvCxnSpPr/>
          <p:nvPr/>
        </p:nvCxnSpPr>
        <p:spPr>
          <a:xfrm>
            <a:off x="2012400" y="1903475"/>
            <a:ext cx="5234100" cy="230280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3" name="Google Shape;163;p20"/>
          <p:cNvCxnSpPr/>
          <p:nvPr/>
        </p:nvCxnSpPr>
        <p:spPr>
          <a:xfrm>
            <a:off x="2034550" y="2080250"/>
            <a:ext cx="5706000" cy="2194500"/>
          </a:xfrm>
          <a:prstGeom prst="straightConnector1">
            <a:avLst/>
          </a:prstGeom>
          <a:noFill/>
          <a:ln cap="flat" cmpd="sng" w="9525">
            <a:solidFill>
              <a:srgbClr val="FFFF00"/>
            </a:solidFill>
            <a:prstDash val="solid"/>
            <a:round/>
            <a:headEnd len="med" w="med" type="none"/>
            <a:tailEnd len="med" w="med" type="triangle"/>
          </a:ln>
        </p:spPr>
      </p:cxnSp>
      <p:pic>
        <p:nvPicPr>
          <p:cNvPr id="164" name="Google Shape;164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11700" y="3111500"/>
            <a:ext cx="2290500" cy="18572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Objekt </a:t>
            </a:r>
            <a:r>
              <a:rPr lang="de"/>
              <a:t>(Szene)</a:t>
            </a:r>
            <a:r>
              <a:rPr lang="de"/>
              <a:t>: Metall</a:t>
            </a:r>
            <a:endParaRPr sz="16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70" name="Google Shape;170;p21"/>
          <p:cNvGraphicFramePr/>
          <p:nvPr/>
        </p:nvGraphicFramePr>
        <p:xfrm>
          <a:off x="311700" y="12303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{19DBBD59-6B8C-46C0-99B0-8FF59A404217}</a:tableStyleId>
              </a:tblPr>
              <a:tblGrid>
                <a:gridCol w="1622325"/>
                <a:gridCol w="4122675"/>
                <a:gridCol w="2113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Modellierung: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Metallstange rostig, Metallstange poliert, Triangel mit Klangstab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Blender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Texturierung: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Metallic, Opaque, </a:t>
                      </a: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Base Map, Normal Map, Height Map, Smoothness, Metallic Map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https://ambientcg.com/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3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Interaktionen: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Greifen, Bewegen, </a:t>
                      </a: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Erz</a:t>
                      </a: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eugen von Sound durch Kollision der Objekte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Skripte (mit Hilfe von ChatGPT erstellt), https://freesound.org/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6289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Benutzerführung: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T</a:t>
                      </a: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oolTips zur Erklärung der Szene und kurze Testanweisung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Unity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71" name="Google Shape;171;p21"/>
          <p:cNvSpPr txBox="1"/>
          <p:nvPr/>
        </p:nvSpPr>
        <p:spPr>
          <a:xfrm>
            <a:off x="311700" y="4000600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Link zum Video: </a:t>
            </a:r>
            <a:r>
              <a:rPr b="1" lang="de" u="sng">
                <a:solidFill>
                  <a:schemeClr val="hlink"/>
                </a:solidFill>
                <a:hlinkClick r:id="rId3"/>
              </a:rPr>
              <a:t>Video Metall</a:t>
            </a:r>
            <a:endParaRPr sz="16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Objekt (Szene): Sandpapier</a:t>
            </a:r>
            <a:endParaRPr sz="16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77" name="Google Shape;177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423275"/>
            <a:ext cx="8839204" cy="3634087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2"/>
          <p:cNvSpPr txBox="1"/>
          <p:nvPr/>
        </p:nvSpPr>
        <p:spPr>
          <a:xfrm>
            <a:off x="311700" y="985888"/>
            <a:ext cx="83355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2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Szene: </a:t>
            </a:r>
            <a:r>
              <a:rPr lang="de" sz="12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WS24_25-ProjGrp_IMTECH_AVR2025-TextureSound/Assets/Scenes/Haptik_Labor_Sandpapier/Sandpapier.unity</a:t>
            </a:r>
            <a:endParaRPr b="1" sz="12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2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Objektgeometrien</a:t>
            </a:r>
            <a:endParaRPr b="1" sz="1100" u="sng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84" name="Google Shape;184;p23"/>
          <p:cNvGraphicFramePr/>
          <p:nvPr/>
        </p:nvGraphicFramePr>
        <p:xfrm>
          <a:off x="396900" y="17070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{19DBBD59-6B8C-46C0-99B0-8FF59A404217}</a:tableStyleId>
              </a:tblPr>
              <a:tblGrid>
                <a:gridCol w="2558775"/>
                <a:gridCol w="2718000"/>
                <a:gridCol w="2582175"/>
              </a:tblGrid>
              <a:tr h="857425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700" u="sng">
                          <a:latin typeface="Roboto"/>
                          <a:ea typeface="Roboto"/>
                          <a:cs typeface="Roboto"/>
                          <a:sym typeface="Roboto"/>
                        </a:rPr>
                        <a:t>Primitive Modellierung </a:t>
                      </a:r>
                      <a:endParaRPr sz="1100" u="sng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600" u="sng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Polygonale Modellierung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600" u="sng">
                          <a:latin typeface="Roboto"/>
                          <a:ea typeface="Roboto"/>
                          <a:cs typeface="Roboto"/>
                          <a:sym typeface="Roboto"/>
                        </a:rPr>
                        <a:t>Polygonale Modellierung (High-Poly-Modell)</a:t>
                      </a:r>
                      <a:r>
                        <a:rPr lang="de" u="sng">
                          <a:latin typeface="Roboto"/>
                          <a:ea typeface="Roboto"/>
                          <a:cs typeface="Roboto"/>
                          <a:sym typeface="Roboto"/>
                        </a:rPr>
                        <a:t> </a:t>
                      </a:r>
                      <a:endParaRPr sz="16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2124375">
                <a:tc>
                  <a:txBody>
                    <a:bodyPr/>
                    <a:lstStyle/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1F2328"/>
                        </a:buClr>
                        <a:buSzPts val="1500"/>
                        <a:buFont typeface="Roboto"/>
                        <a:buChar char="●"/>
                      </a:pPr>
                      <a:r>
                        <a:rPr lang="de" sz="1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primitive Modellierung</a:t>
                      </a:r>
                      <a:endParaRPr sz="1500">
                        <a:solidFill>
                          <a:srgbClr val="1F232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solidFill>
                          <a:srgbClr val="1F2328"/>
                        </a:solidFill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Einfache Plane ergänzt um:</a:t>
                      </a:r>
                      <a:endParaRPr sz="15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Roboto"/>
                        <a:buChar char="●"/>
                      </a:pPr>
                      <a:r>
                        <a:rPr lang="de" sz="1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10 x 10 Vertices</a:t>
                      </a:r>
                      <a:endParaRPr sz="15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Roboto"/>
                        <a:buChar char="●"/>
                      </a:pPr>
                      <a:r>
                        <a:rPr lang="de" sz="1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31MB</a:t>
                      </a:r>
                      <a:endParaRPr sz="15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Einfache Plane ergänzt um:</a:t>
                      </a:r>
                      <a:endParaRPr sz="15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Roboto"/>
                        <a:buChar char="●"/>
                      </a:pPr>
                      <a:r>
                        <a:rPr lang="de" sz="1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250 x 250 Vertices</a:t>
                      </a:r>
                      <a:endParaRPr sz="15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-323850" lvl="0" marL="45720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SzPts val="1500"/>
                        <a:buFont typeface="Roboto"/>
                        <a:buChar char="●"/>
                      </a:pPr>
                      <a:r>
                        <a:rPr lang="de" sz="1500">
                          <a:latin typeface="Roboto"/>
                          <a:ea typeface="Roboto"/>
                          <a:cs typeface="Roboto"/>
                          <a:sym typeface="Roboto"/>
                        </a:rPr>
                        <a:t>697MB &gt; 91MB</a:t>
                      </a:r>
                      <a:endParaRPr sz="15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85" name="Google Shape;185;p23"/>
          <p:cNvSpPr txBox="1"/>
          <p:nvPr/>
        </p:nvSpPr>
        <p:spPr>
          <a:xfrm>
            <a:off x="396825" y="1197325"/>
            <a:ext cx="78591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Drei verschiedenen 3D-Objekt Geometrien im Blender erstellt.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86" name="Google Shape;186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8863" y="3462250"/>
            <a:ext cx="1553525" cy="108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6175" y="3558548"/>
            <a:ext cx="1553525" cy="8888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5700" y="3374501"/>
            <a:ext cx="1279378" cy="12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/>
              <a:t>Material und Texturen</a:t>
            </a:r>
            <a:endParaRPr b="1">
              <a:solidFill>
                <a:srgbClr val="000000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194" name="Google Shape;194;p24"/>
          <p:cNvGraphicFramePr/>
          <p:nvPr/>
        </p:nvGraphicFramePr>
        <p:xfrm>
          <a:off x="311725" y="1310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{19DBBD59-6B8C-46C0-99B0-8FF59A404217}</a:tableStyleId>
              </a:tblPr>
              <a:tblGrid>
                <a:gridCol w="1669325"/>
                <a:gridCol w="2076225"/>
                <a:gridCol w="2172425"/>
                <a:gridCol w="2032425"/>
              </a:tblGrid>
              <a:tr h="78330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800" u="sng">
                          <a:latin typeface="Roboto"/>
                          <a:ea typeface="Roboto"/>
                          <a:cs typeface="Roboto"/>
                          <a:sym typeface="Roboto"/>
                        </a:rPr>
                        <a:t>Einfache Texture</a:t>
                      </a:r>
                      <a:endParaRPr sz="1800" u="sng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de" sz="1800" u="sng">
                          <a:latin typeface="Roboto"/>
                          <a:ea typeface="Roboto"/>
                          <a:cs typeface="Roboto"/>
                          <a:sym typeface="Roboto"/>
                        </a:rPr>
                        <a:t>Einfache Texture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800" u="sng">
                          <a:latin typeface="Roboto"/>
                          <a:ea typeface="Roboto"/>
                          <a:cs typeface="Roboto"/>
                          <a:sym typeface="Roboto"/>
                        </a:rPr>
                        <a:t>Texture Baking </a:t>
                      </a:r>
                      <a:endParaRPr sz="1800" u="sng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800" u="sng">
                          <a:latin typeface="Roboto"/>
                          <a:ea typeface="Roboto"/>
                          <a:cs typeface="Roboto"/>
                          <a:sym typeface="Roboto"/>
                        </a:rPr>
                        <a:t>(Blender)</a:t>
                      </a:r>
                      <a:endParaRPr sz="1800" u="sng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 sz="1800" u="sng">
                          <a:latin typeface="Roboto"/>
                          <a:ea typeface="Roboto"/>
                          <a:cs typeface="Roboto"/>
                          <a:sym typeface="Roboto"/>
                        </a:rPr>
                        <a:t>Prozedurales Material</a:t>
                      </a:r>
                      <a:endParaRPr sz="1800"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  <a:tr h="204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Farbe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Selbst aufgenommenes Foto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Ableiten einer Texture, die das High-Poly-Modell als Textur simuliert. </a:t>
                      </a:r>
                      <a:b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3MB (PNG)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Quelle Internet: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120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Base, Metallic, Nomal, Height und Occlusion Map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195" name="Google Shape;195;p24"/>
          <p:cNvSpPr txBox="1"/>
          <p:nvPr/>
        </p:nvSpPr>
        <p:spPr>
          <a:xfrm>
            <a:off x="403200" y="4597100"/>
            <a:ext cx="6404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hlink"/>
                </a:solidFill>
                <a:hlinkClick r:id="rId3"/>
              </a:rPr>
              <a:t>Dokumentation (einzelne Szenen)/</a:t>
            </a:r>
            <a:r>
              <a:rPr lang="de" u="sng">
                <a:solidFill>
                  <a:schemeClr val="hlink"/>
                </a:solidFill>
                <a:hlinkClick r:id="rId4"/>
              </a:rPr>
              <a:t>Video_Scene_Sandpapier_1.mp4</a:t>
            </a:r>
            <a:endParaRPr sz="16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96" name="Google Shape;196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67463" y="3275737"/>
            <a:ext cx="879099" cy="117207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365175" y="3840013"/>
            <a:ext cx="1784803" cy="6077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737606" y="3688551"/>
            <a:ext cx="809098" cy="759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9" name="Google Shape;199;p2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63525" y="3187975"/>
            <a:ext cx="968950" cy="1172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Sound</a:t>
            </a:r>
            <a:endParaRPr/>
          </a:p>
        </p:txBody>
      </p:sp>
      <p:sp>
        <p:nvSpPr>
          <p:cNvPr id="205" name="Google Shape;205;p25"/>
          <p:cNvSpPr txBox="1"/>
          <p:nvPr/>
        </p:nvSpPr>
        <p:spPr>
          <a:xfrm>
            <a:off x="457200" y="1297650"/>
            <a:ext cx="8375100" cy="3588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700">
                <a:solidFill>
                  <a:srgbClr val="1F2328"/>
                </a:solidFill>
              </a:rPr>
              <a:t>Erstellen von Audioaufnahmen mit Schleifpapier:</a:t>
            </a:r>
            <a:endParaRPr sz="1700">
              <a:solidFill>
                <a:srgbClr val="1F2328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2328"/>
              </a:buClr>
              <a:buSzPts val="1600"/>
              <a:buChar char="●"/>
            </a:pPr>
            <a:r>
              <a:rPr lang="de" sz="1600">
                <a:solidFill>
                  <a:srgbClr val="1F2328"/>
                </a:solidFill>
              </a:rPr>
              <a:t>schleifen_kurz.mp3</a:t>
            </a:r>
            <a:endParaRPr sz="1600">
              <a:solidFill>
                <a:srgbClr val="1F2328"/>
              </a:solidFill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600"/>
              <a:buChar char="●"/>
            </a:pPr>
            <a:r>
              <a:rPr lang="de" sz="1600">
                <a:solidFill>
                  <a:srgbClr val="1F2328"/>
                </a:solidFill>
              </a:rPr>
              <a:t>schleifen_lang.mp3</a:t>
            </a:r>
            <a:endParaRPr sz="1600">
              <a:solidFill>
                <a:srgbClr val="1F2328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F232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de" sz="1700">
                <a:solidFill>
                  <a:srgbClr val="1F2328"/>
                </a:solidFill>
              </a:rPr>
              <a:t>Auslösen des Sounds:</a:t>
            </a:r>
            <a:endParaRPr sz="1700">
              <a:solidFill>
                <a:srgbClr val="1F2328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2328"/>
              </a:buClr>
              <a:buSzPts val="1500"/>
              <a:buChar char="●"/>
            </a:pPr>
            <a:r>
              <a:rPr lang="de" sz="1500">
                <a:solidFill>
                  <a:srgbClr val="1F2328"/>
                </a:solidFill>
              </a:rPr>
              <a:t>Sandpapier/Script/sound_and_grab.cs</a:t>
            </a:r>
            <a:endParaRPr sz="1500">
              <a:solidFill>
                <a:srgbClr val="1F2328"/>
              </a:solidFill>
            </a:endParaRPr>
          </a:p>
          <a:p>
            <a:pPr indent="-3238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500"/>
              <a:buChar char="●"/>
            </a:pPr>
            <a:r>
              <a:rPr lang="de" sz="1500">
                <a:solidFill>
                  <a:srgbClr val="1F2328"/>
                </a:solidFill>
              </a:rPr>
              <a:t>Differenzierung zwischen kurzen und langen Kollisionen </a:t>
            </a:r>
            <a:endParaRPr sz="1300">
              <a:solidFill>
                <a:srgbClr val="1F2328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rgbClr val="1F2328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6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Unity: kombinieren und präsentieren</a:t>
            </a:r>
            <a:endParaRPr sz="4200"/>
          </a:p>
        </p:txBody>
      </p:sp>
      <p:sp>
        <p:nvSpPr>
          <p:cNvPr id="211" name="Google Shape;211;p26"/>
          <p:cNvSpPr txBox="1"/>
          <p:nvPr/>
        </p:nvSpPr>
        <p:spPr>
          <a:xfrm>
            <a:off x="396700" y="1035425"/>
            <a:ext cx="8572500" cy="376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u="sng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Collider (Sandpapier/Script/</a:t>
            </a:r>
            <a:r>
              <a:rPr lang="de" sz="1800" u="sng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Collider.cs</a:t>
            </a:r>
            <a:r>
              <a:rPr lang="de" sz="1800" u="sng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) (Erkennen von </a:t>
            </a:r>
            <a:r>
              <a:rPr lang="de" sz="1800" u="sng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Kollisionen)</a:t>
            </a:r>
            <a:endParaRPr b="1" sz="1800" u="sng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 u="sng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Rigidbody (Simulation physikalischer Eigenschaften) </a:t>
            </a:r>
            <a:endParaRPr sz="1800" u="sng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Parameter auf die Charakteristika von Papier abgestimmt: 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</a:pPr>
            <a:r>
              <a:rPr lang="de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Mass: 0.05 (geringes Gewicht für realistische Fallbewegung)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</a:pPr>
            <a:r>
              <a:rPr lang="de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Drag: 3 (schnelles Abbremsen)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</a:pPr>
            <a:r>
              <a:rPr lang="de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Angular Drag: 2 (verhindert endloses Rotieren)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</a:pPr>
            <a:r>
              <a:rPr lang="de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Use Gravity: aktiviert (Papier wird von Schwerkraft beeinflusst)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</a:pPr>
            <a:r>
              <a:rPr lang="de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Interpolate: Interpolate (flüssige Bewegung)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</a:pPr>
            <a:r>
              <a:rPr lang="de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Collision Detection: Discrete (verhindert Durchrutschen (?))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500"/>
              <a:buFont typeface="Roboto"/>
              <a:buChar char="●"/>
            </a:pPr>
            <a:r>
              <a:rPr lang="de" sz="15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Constraints: X/Z-Achsen auf Freeze gesetzt (verhindert unrealistisches Kippen oder Hochklappen)</a:t>
            </a:r>
            <a:endParaRPr sz="15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Unity: Tooltip </a:t>
            </a:r>
            <a:r>
              <a:rPr lang="de" sz="2100"/>
              <a:t>(Sandpapier/Script/Sandpapier_info.cs)</a:t>
            </a:r>
            <a:endParaRPr sz="4500"/>
          </a:p>
        </p:txBody>
      </p:sp>
      <p:sp>
        <p:nvSpPr>
          <p:cNvPr id="217" name="Google Shape;217;p27"/>
          <p:cNvSpPr txBox="1"/>
          <p:nvPr/>
        </p:nvSpPr>
        <p:spPr>
          <a:xfrm>
            <a:off x="396700" y="44929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u="sng">
                <a:solidFill>
                  <a:schemeClr val="hlink"/>
                </a:solidFill>
                <a:hlinkClick r:id="rId3"/>
              </a:rPr>
              <a:t>Video_Scene_Sandpapier_2.mp4</a:t>
            </a:r>
            <a:endParaRPr sz="16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18" name="Google Shape;218;p27"/>
          <p:cNvSpPr txBox="1"/>
          <p:nvPr/>
        </p:nvSpPr>
        <p:spPr>
          <a:xfrm>
            <a:off x="396700" y="1035425"/>
            <a:ext cx="8572500" cy="350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 u="sng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 u="sng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Ziel: </a:t>
            </a:r>
            <a:endParaRPr sz="2000" u="sng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Vergleichbarkeit beim Testen unterstützen</a:t>
            </a:r>
            <a:endParaRPr sz="20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 u="sng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Umsetzung:</a:t>
            </a:r>
            <a:endParaRPr sz="2000" u="sng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 u="sng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900"/>
              <a:buFont typeface="Roboto"/>
              <a:buChar char="●"/>
            </a:pPr>
            <a:r>
              <a:rPr lang="de" sz="19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Script `Sandpapier_info` </a:t>
            </a:r>
            <a:endParaRPr sz="19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900"/>
              <a:buFont typeface="Roboto"/>
              <a:buChar char="●"/>
            </a:pPr>
            <a:r>
              <a:rPr lang="de" sz="19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UI-Textfeld</a:t>
            </a:r>
            <a:endParaRPr sz="19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9250" lvl="0" marL="457200" rtl="0" algn="l">
              <a:spcBef>
                <a:spcPts val="0"/>
              </a:spcBef>
              <a:spcAft>
                <a:spcPts val="0"/>
              </a:spcAft>
              <a:buClr>
                <a:srgbClr val="1F2328"/>
              </a:buClr>
              <a:buSzPts val="1900"/>
              <a:buFont typeface="Roboto"/>
              <a:buChar char="●"/>
            </a:pPr>
            <a:r>
              <a:rPr lang="de" sz="1900">
                <a:solidFill>
                  <a:srgbClr val="1F2328"/>
                </a:solidFill>
                <a:latin typeface="Roboto"/>
                <a:ea typeface="Roboto"/>
                <a:cs typeface="Roboto"/>
                <a:sym typeface="Roboto"/>
              </a:rPr>
              <a:t>Papierobjekt: Script + Infotext</a:t>
            </a:r>
            <a:endParaRPr sz="1900">
              <a:solidFill>
                <a:srgbClr val="1F2328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28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Weiterentwicklung</a:t>
            </a:r>
            <a:endParaRPr sz="4500"/>
          </a:p>
        </p:txBody>
      </p:sp>
      <p:sp>
        <p:nvSpPr>
          <p:cNvPr id="224" name="Google Shape;224;p28"/>
          <p:cNvSpPr txBox="1"/>
          <p:nvPr/>
        </p:nvSpPr>
        <p:spPr>
          <a:xfrm>
            <a:off x="403400" y="1042150"/>
            <a:ext cx="8520600" cy="23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- Sound (Schleife /stoppen beim Ende der Bewegung/ Greifen)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- Collider (Sound nicht bei "Nähe" ausführen)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- Das Papier könnte sich leicht biegen beim hochheben.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- Tooltips für alle Objekte 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- Vibration einbinden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20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- Interaktion mit anderen Materialien</a:t>
            </a:r>
            <a:endParaRPr sz="20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3000">
                <a:solidFill>
                  <a:schemeClr val="dk1"/>
                </a:solidFill>
                <a:latin typeface="Roboto"/>
                <a:ea typeface="Roboto"/>
                <a:cs typeface="Roboto"/>
                <a:sym typeface="Roboto"/>
              </a:rPr>
              <a:t>Offene Punkte / Fehler</a:t>
            </a:r>
            <a:endParaRPr sz="3000">
              <a:solidFill>
                <a:schemeClr val="dk1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- Einige Papiere sinken nach dem Werfen in den Tisch ein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- Der Tooltip könnte besser positioniert werden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9"/>
          <p:cNvSpPr txBox="1"/>
          <p:nvPr>
            <p:ph type="title"/>
          </p:nvPr>
        </p:nvSpPr>
        <p:spPr>
          <a:xfrm>
            <a:off x="349625" y="410000"/>
            <a:ext cx="84828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Bewertung der Komponenten (pers. Sicht)</a:t>
            </a:r>
            <a:endParaRPr sz="4500"/>
          </a:p>
        </p:txBody>
      </p:sp>
      <p:sp>
        <p:nvSpPr>
          <p:cNvPr id="230" name="Google Shape;230;p29"/>
          <p:cNvSpPr txBox="1"/>
          <p:nvPr/>
        </p:nvSpPr>
        <p:spPr>
          <a:xfrm>
            <a:off x="349625" y="1646553"/>
            <a:ext cx="8482800" cy="18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„</a:t>
            </a:r>
            <a:r>
              <a:rPr lang="de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Input“  notwendig um ein immersives Ergebnis zu erzielen: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-"/>
            </a:pPr>
            <a:r>
              <a:rPr lang="de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100% Geometrie, kann auf komplexe Textur verzichten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-"/>
            </a:pPr>
            <a:r>
              <a:rPr lang="de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Komplexe Textur wiederumkann  auf detailierte Geometrie </a:t>
            </a:r>
            <a:r>
              <a:rPr lang="de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verzichten 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700"/>
              <a:buFont typeface="Roboto"/>
              <a:buChar char="-"/>
            </a:pPr>
            <a:r>
              <a:rPr lang="de" sz="17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50/50 Lösung (Low-Poly + Texture Baking Variante)</a:t>
            </a:r>
            <a:endParaRPr sz="17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30"/>
          <p:cNvSpPr txBox="1"/>
          <p:nvPr/>
        </p:nvSpPr>
        <p:spPr>
          <a:xfrm>
            <a:off x="448025" y="1136275"/>
            <a:ext cx="8451600" cy="303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700"/>
              <a:t>Komponenten: 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 sz="1700"/>
              <a:t>Objektgeometrien, Texturen und Materialien, Soundelementen, UI-Skripten</a:t>
            </a:r>
            <a:endParaRPr sz="1700"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de" sz="1700"/>
              <a:t>s</a:t>
            </a:r>
            <a:r>
              <a:rPr lang="de" sz="1700"/>
              <a:t>olide Grundlage für die wissenschaftliche Untersuchung haptischer Wahrnehmung in virtuellen Umgebungen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de" sz="1700"/>
              <a:t>Für eine belastbare und praxisnahe Studie sollten jedoch alle Komponenten hinsichtlich Qualität, Funktionalität und Realismus weiter optimiert werden, um valide und übertragbare Ergebnisse zu erzielen.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700"/>
          </a:p>
        </p:txBody>
      </p:sp>
      <p:sp>
        <p:nvSpPr>
          <p:cNvPr id="236" name="Google Shape;236;p30"/>
          <p:cNvSpPr txBox="1"/>
          <p:nvPr>
            <p:ph type="title"/>
          </p:nvPr>
        </p:nvSpPr>
        <p:spPr>
          <a:xfrm>
            <a:off x="349625" y="338200"/>
            <a:ext cx="86484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Bewertung der Untersuchung (pers. Sicht)</a:t>
            </a:r>
            <a:endParaRPr sz="45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1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Objekt (Szene): Holz</a:t>
            </a:r>
            <a:endParaRPr sz="16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31"/>
          <p:cNvSpPr txBox="1"/>
          <p:nvPr/>
        </p:nvSpPr>
        <p:spPr>
          <a:xfrm>
            <a:off x="311700" y="1033413"/>
            <a:ext cx="83355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 sz="13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Szene: </a:t>
            </a:r>
            <a:r>
              <a:rPr lang="de" sz="13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WS24_25-ProjGrp_IMTECH_AVR2025-TextureSound\Assets\Scenes\</a:t>
            </a:r>
            <a:r>
              <a:rPr b="1" lang="de" sz="13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Holz</a:t>
            </a:r>
            <a:r>
              <a:rPr b="1" lang="de" sz="13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.unity</a:t>
            </a:r>
            <a:endParaRPr b="1" sz="13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243" name="Google Shape;243;p3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1450" y="1346438"/>
            <a:ext cx="6045897" cy="34203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32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Objekt (Szene): Holz</a:t>
            </a:r>
            <a:endParaRPr sz="1600">
              <a:solidFill>
                <a:schemeClr val="dk2"/>
              </a:solidFill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aphicFrame>
        <p:nvGraphicFramePr>
          <p:cNvPr id="249" name="Google Shape;249;p32"/>
          <p:cNvGraphicFramePr/>
          <p:nvPr/>
        </p:nvGraphicFramePr>
        <p:xfrm>
          <a:off x="311700" y="11087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{19DBBD59-6B8C-46C0-99B0-8FF59A404217}</a:tableStyleId>
              </a:tblPr>
              <a:tblGrid>
                <a:gridCol w="1622325"/>
                <a:gridCol w="4122675"/>
                <a:gridCol w="2113950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Modellierung: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Holz, gespaltenes Holz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Unity, Assetstore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Texturierung: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Base Map, </a:t>
                      </a:r>
                      <a:r>
                        <a:rPr lang="de"/>
                        <a:t>Roughness/Metallic, </a:t>
                      </a:r>
                      <a:r>
                        <a:rPr lang="de"/>
                        <a:t>Normal, Height, Mask 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Assetstore </a:t>
                      </a:r>
                      <a:b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(</a:t>
                      </a:r>
                      <a:r>
                        <a:rPr lang="de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3"/>
                        </a:rPr>
                        <a:t>Realistic Textures</a:t>
                      </a: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, </a:t>
                      </a:r>
                      <a:r>
                        <a:rPr lang="de" u="sng">
                          <a:solidFill>
                            <a:schemeClr val="hlink"/>
                          </a:solidFill>
                          <a:latin typeface="Roboto"/>
                          <a:ea typeface="Roboto"/>
                          <a:cs typeface="Roboto"/>
                          <a:sym typeface="Roboto"/>
                          <a:hlinkClick r:id="rId4"/>
                        </a:rPr>
                        <a:t>Black Cherry Firewood</a:t>
                      </a: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)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8722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Interaktionen: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Greifen, Bewegen, Erzeugen von Sound, Änderung der Objekteigenschaft vom Holzobjekt zu gespaltenes Holz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Scripte, </a:t>
                      </a:r>
                      <a:b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</a:b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Free Sound Assets</a:t>
                      </a:r>
                      <a:endParaRPr/>
                    </a:p>
                  </a:txBody>
                  <a:tcPr marT="91425" marB="91425" marR="91425" marL="91425"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8347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/>
                        <a:t>Benutzerführung:</a:t>
                      </a:r>
                      <a:endParaRPr/>
                    </a:p>
                  </a:txBody>
                  <a:tcPr marT="91425" marB="91425" marR="91425" marL="91425"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ToolTips zur Erklärung der Szene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de">
                          <a:latin typeface="Roboto"/>
                          <a:ea typeface="Roboto"/>
                          <a:cs typeface="Roboto"/>
                          <a:sym typeface="Roboto"/>
                        </a:rPr>
                        <a:t>Unity</a:t>
                      </a:r>
                      <a:endParaRPr>
                        <a:latin typeface="Roboto"/>
                        <a:ea typeface="Roboto"/>
                        <a:cs typeface="Roboto"/>
                        <a:sym typeface="Robot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9E9E9E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50" name="Google Shape;250;p32"/>
          <p:cNvSpPr txBox="1"/>
          <p:nvPr/>
        </p:nvSpPr>
        <p:spPr>
          <a:xfrm>
            <a:off x="311700" y="412572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de"/>
              <a:t>Link zum Video: </a:t>
            </a:r>
            <a:r>
              <a:rPr b="1" lang="de" u="sng">
                <a:solidFill>
                  <a:schemeClr val="hlink"/>
                </a:solidFill>
                <a:highlight>
                  <a:srgbClr val="FFFFFF"/>
                </a:highlight>
                <a:latin typeface="Roboto"/>
                <a:ea typeface="Roboto"/>
                <a:cs typeface="Roboto"/>
                <a:sym typeface="Roboto"/>
                <a:hlinkClick r:id="rId5"/>
              </a:rPr>
              <a:t>Video</a:t>
            </a:r>
            <a:endParaRPr b="1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33"/>
          <p:cNvSpPr txBox="1"/>
          <p:nvPr>
            <p:ph idx="4294967295" type="body"/>
          </p:nvPr>
        </p:nvSpPr>
        <p:spPr>
          <a:xfrm>
            <a:off x="5965325" y="2070575"/>
            <a:ext cx="27606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" sz="1400">
                <a:solidFill>
                  <a:srgbClr val="000000"/>
                </a:solidFill>
              </a:rPr>
              <a:t>Push/Pull via </a:t>
            </a:r>
            <a:r>
              <a:rPr b="1" lang="de" sz="1400">
                <a:solidFill>
                  <a:srgbClr val="000000"/>
                </a:solidFill>
              </a:rPr>
              <a:t>GitHub</a:t>
            </a:r>
            <a:r>
              <a:rPr lang="de" sz="1400">
                <a:solidFill>
                  <a:srgbClr val="000000"/>
                </a:solidFill>
              </a:rPr>
              <a:t> verliefen nicht immer reibungslos. Inhalte gingen teilweise verloren oder wurden überschrieben. Vereinheitlichung der Szenen erforderte viel Aufwand.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" sz="1400">
                <a:solidFill>
                  <a:srgbClr val="000000"/>
                </a:solidFill>
              </a:rPr>
              <a:t>Bewegungssteuerung funktionierte auf verschiedenen Rechnern unterschiedlich, was zusätzliche Abstimmung nötig machte.</a:t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t/>
            </a:r>
            <a:endParaRPr sz="1400"/>
          </a:p>
        </p:txBody>
      </p:sp>
      <p:sp>
        <p:nvSpPr>
          <p:cNvPr id="256" name="Google Shape;256;p33"/>
          <p:cNvSpPr txBox="1"/>
          <p:nvPr>
            <p:ph idx="4294967295" type="body"/>
          </p:nvPr>
        </p:nvSpPr>
        <p:spPr>
          <a:xfrm>
            <a:off x="3047250" y="2070575"/>
            <a:ext cx="26757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</a:rPr>
              <a:t>Die Implementierung der Bewegungssteuerung in </a:t>
            </a:r>
            <a:r>
              <a:rPr b="1" lang="de" sz="1500">
                <a:solidFill>
                  <a:srgbClr val="000000"/>
                </a:solidFill>
              </a:rPr>
              <a:t>Unity </a:t>
            </a:r>
            <a:r>
              <a:rPr lang="de" sz="1500">
                <a:solidFill>
                  <a:srgbClr val="000000"/>
                </a:solidFill>
              </a:rPr>
              <a:t>stellte eine besondere Herausforderung dar.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</a:rPr>
              <a:t>Sie war komplex, da mehrere Dimensionen und Eingabe- möglichkeiten berücksichtigt werden mussten. 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57" name="Google Shape;257;p33"/>
          <p:cNvSpPr txBox="1"/>
          <p:nvPr>
            <p:ph idx="4294967295" type="body"/>
          </p:nvPr>
        </p:nvSpPr>
        <p:spPr>
          <a:xfrm>
            <a:off x="432350" y="2070575"/>
            <a:ext cx="2469300" cy="26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</a:rPr>
              <a:t>Zu Beginn des Projekts mussten </a:t>
            </a:r>
            <a:r>
              <a:rPr b="1" lang="de" sz="1500">
                <a:solidFill>
                  <a:srgbClr val="000000"/>
                </a:solidFill>
              </a:rPr>
              <a:t>Unity</a:t>
            </a:r>
            <a:r>
              <a:rPr lang="de" sz="1500">
                <a:solidFill>
                  <a:srgbClr val="000000"/>
                </a:solidFill>
              </a:rPr>
              <a:t>, </a:t>
            </a:r>
            <a:r>
              <a:rPr b="1" lang="de" sz="1500">
                <a:solidFill>
                  <a:srgbClr val="000000"/>
                </a:solidFill>
              </a:rPr>
              <a:t>Blender </a:t>
            </a:r>
            <a:r>
              <a:rPr lang="de" sz="1500">
                <a:solidFill>
                  <a:srgbClr val="000000"/>
                </a:solidFill>
              </a:rPr>
              <a:t>und die </a:t>
            </a:r>
            <a:r>
              <a:rPr b="1" lang="de" sz="1500">
                <a:solidFill>
                  <a:srgbClr val="000000"/>
                </a:solidFill>
              </a:rPr>
              <a:t>Meta Quest </a:t>
            </a:r>
            <a:r>
              <a:rPr lang="de" sz="1500">
                <a:solidFill>
                  <a:srgbClr val="000000"/>
                </a:solidFill>
              </a:rPr>
              <a:t>zunächst eingerichtet und grundlegend verstanden werden.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de" sz="1500">
                <a:solidFill>
                  <a:srgbClr val="000000"/>
                </a:solidFill>
              </a:rPr>
              <a:t>Die Einarbeitung in die Programme war mit einem gewissen Lernaufwand verbunden.</a:t>
            </a:r>
            <a:endParaRPr sz="15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t/>
            </a:r>
            <a:endParaRPr sz="1500"/>
          </a:p>
        </p:txBody>
      </p:sp>
      <p:sp>
        <p:nvSpPr>
          <p:cNvPr id="258" name="Google Shape;258;p33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Herausforderungen</a:t>
            </a:r>
            <a:endParaRPr/>
          </a:p>
        </p:txBody>
      </p:sp>
      <p:sp>
        <p:nvSpPr>
          <p:cNvPr id="259" name="Google Shape;259;p33"/>
          <p:cNvSpPr/>
          <p:nvPr/>
        </p:nvSpPr>
        <p:spPr>
          <a:xfrm>
            <a:off x="432350" y="1304875"/>
            <a:ext cx="2469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0" name="Google Shape;260;p33"/>
          <p:cNvSpPr txBox="1"/>
          <p:nvPr>
            <p:ph idx="4294967295" type="body"/>
          </p:nvPr>
        </p:nvSpPr>
        <p:spPr>
          <a:xfrm>
            <a:off x="4323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lt1"/>
                </a:solidFill>
              </a:rPr>
              <a:t>Software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1" name="Google Shape;261;p33"/>
          <p:cNvSpPr/>
          <p:nvPr/>
        </p:nvSpPr>
        <p:spPr>
          <a:xfrm>
            <a:off x="3044777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33"/>
          <p:cNvSpPr txBox="1"/>
          <p:nvPr>
            <p:ph idx="4294967295" type="body"/>
          </p:nvPr>
        </p:nvSpPr>
        <p:spPr>
          <a:xfrm>
            <a:off x="3336150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lt1"/>
                </a:solidFill>
              </a:rPr>
              <a:t>Bewegungs- steuerung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263" name="Google Shape;263;p33"/>
          <p:cNvSpPr/>
          <p:nvPr/>
        </p:nvSpPr>
        <p:spPr>
          <a:xfrm>
            <a:off x="5948502" y="1304875"/>
            <a:ext cx="27606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33"/>
          <p:cNvSpPr txBox="1"/>
          <p:nvPr>
            <p:ph idx="4294967295" type="body"/>
          </p:nvPr>
        </p:nvSpPr>
        <p:spPr>
          <a:xfrm>
            <a:off x="6254233" y="1451576"/>
            <a:ext cx="2257200" cy="314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chemeClr val="lt1"/>
                </a:solidFill>
              </a:rPr>
              <a:t>Synchronisation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4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Ausblick &amp; Lessons Learned</a:t>
            </a:r>
            <a:endParaRPr/>
          </a:p>
        </p:txBody>
      </p:sp>
      <p:sp>
        <p:nvSpPr>
          <p:cNvPr id="270" name="Google Shape;270;p34"/>
          <p:cNvSpPr txBox="1"/>
          <p:nvPr/>
        </p:nvSpPr>
        <p:spPr>
          <a:xfrm>
            <a:off x="311700" y="1191350"/>
            <a:ext cx="8520600" cy="295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Der Einstieg in neue </a:t>
            </a:r>
            <a:r>
              <a:rPr b="1"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Tools</a:t>
            </a: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und die </a:t>
            </a:r>
            <a:r>
              <a:rPr b="1"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VR-Entwicklung</a:t>
            </a: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war für das ganze Team eine Herausforderung – wir haben viel experimentiert, manchmal auch improvisiert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Aus Zeitgründen lag unser Fokus klar auf funktionierenden Einzel-Features; eine</a:t>
            </a:r>
            <a:r>
              <a:rPr b="1"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UX-Messung mit Nutzerbefragung</a:t>
            </a: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 steht noch aus und bietet großes Potenzial für den weiteren Verlauf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Möglichkeiten zur </a:t>
            </a:r>
            <a:r>
              <a:rPr b="1"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Weiterentwicklung</a:t>
            </a: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: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lphaLcPeriod"/>
            </a:pP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Mehr Interaktion zwischen den Objekten zu schaffen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lphaLcPeriod"/>
            </a:pP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Die Nutzerperspektive stärker einzubinden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AutoNum type="alphaLcPeriod"/>
            </a:pP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Die Bedienbarkeit und Performance gezielt weiterzuentwickeln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5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GitHub Links</a:t>
            </a:r>
            <a:endParaRPr/>
          </a:p>
        </p:txBody>
      </p:sp>
      <p:sp>
        <p:nvSpPr>
          <p:cNvPr id="276" name="Google Shape;276;p35"/>
          <p:cNvSpPr txBox="1"/>
          <p:nvPr/>
        </p:nvSpPr>
        <p:spPr>
          <a:xfrm>
            <a:off x="311700" y="1191350"/>
            <a:ext cx="85206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b="1" lang="de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Unity Projekt</a:t>
            </a:r>
            <a:endParaRPr b="1"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b="1" lang="de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Projektdokumentation &amp; Videos</a:t>
            </a:r>
            <a:r>
              <a:rPr lang="de" sz="1800">
                <a:latin typeface="Roboto"/>
                <a:ea typeface="Roboto"/>
                <a:cs typeface="Roboto"/>
                <a:sym typeface="Roboto"/>
              </a:rPr>
              <a:t> &amp; Abschluss Präsentation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Font typeface="Roboto"/>
              <a:buAutoNum type="arabicPeriod"/>
            </a:pPr>
            <a:r>
              <a:rPr b="1" lang="de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5"/>
              </a:rPr>
              <a:t>Concept</a:t>
            </a:r>
            <a:endParaRPr sz="1800"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6"/>
          <p:cNvSpPr txBox="1"/>
          <p:nvPr>
            <p:ph idx="4294967295" type="title"/>
          </p:nvPr>
        </p:nvSpPr>
        <p:spPr>
          <a:xfrm>
            <a:off x="311700" y="226785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Appendix</a:t>
            </a:r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7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Team &amp; Aufgabenverteilung</a:t>
            </a:r>
            <a:endParaRPr/>
          </a:p>
        </p:txBody>
      </p:sp>
      <p:sp>
        <p:nvSpPr>
          <p:cNvPr id="287" name="Google Shape;287;p37"/>
          <p:cNvSpPr/>
          <p:nvPr/>
        </p:nvSpPr>
        <p:spPr>
          <a:xfrm>
            <a:off x="4634750" y="1139188"/>
            <a:ext cx="1620000" cy="895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8" name="Google Shape;288;p37"/>
          <p:cNvSpPr/>
          <p:nvPr/>
        </p:nvSpPr>
        <p:spPr>
          <a:xfrm>
            <a:off x="4634925" y="1136400"/>
            <a:ext cx="16200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jacque-schu</a:t>
            </a:r>
            <a:endParaRPr sz="13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89" name="Google Shape;289;p37"/>
          <p:cNvSpPr txBox="1"/>
          <p:nvPr>
            <p:ph idx="4294967295" type="body"/>
          </p:nvPr>
        </p:nvSpPr>
        <p:spPr>
          <a:xfrm>
            <a:off x="1196325" y="3702147"/>
            <a:ext cx="1449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>
                <a:solidFill>
                  <a:schemeClr val="lt1"/>
                </a:solidFill>
              </a:rPr>
              <a:t>Leitung Technik und Entwicklung</a:t>
            </a:r>
            <a:endParaRPr sz="1000">
              <a:solidFill>
                <a:schemeClr val="lt1"/>
              </a:solidFill>
            </a:endParaRPr>
          </a:p>
        </p:txBody>
      </p:sp>
      <p:sp>
        <p:nvSpPr>
          <p:cNvPr id="290" name="Google Shape;290;p37"/>
          <p:cNvSpPr txBox="1"/>
          <p:nvPr>
            <p:ph idx="4294967295" type="body"/>
          </p:nvPr>
        </p:nvSpPr>
        <p:spPr>
          <a:xfrm>
            <a:off x="4655675" y="1635000"/>
            <a:ext cx="15885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1"/>
                </a:solidFill>
              </a:rPr>
              <a:t>Jacqueline Schulz</a:t>
            </a:r>
            <a:endParaRPr sz="1300">
              <a:solidFill>
                <a:schemeClr val="dk1"/>
              </a:solidFill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1"/>
                </a:solidFill>
              </a:rPr>
              <a:t>106397</a:t>
            </a:r>
            <a:endParaRPr sz="12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37"/>
          <p:cNvSpPr/>
          <p:nvPr/>
        </p:nvSpPr>
        <p:spPr>
          <a:xfrm>
            <a:off x="1164675" y="1138900"/>
            <a:ext cx="1620000" cy="895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37"/>
          <p:cNvSpPr/>
          <p:nvPr/>
        </p:nvSpPr>
        <p:spPr>
          <a:xfrm>
            <a:off x="1164675" y="1138900"/>
            <a:ext cx="16200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de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avr2025-annab</a:t>
            </a:r>
            <a:endParaRPr sz="120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3" name="Google Shape;293;p37"/>
          <p:cNvSpPr txBox="1"/>
          <p:nvPr>
            <p:ph idx="4294967295" type="body"/>
          </p:nvPr>
        </p:nvSpPr>
        <p:spPr>
          <a:xfrm>
            <a:off x="1196325" y="1634250"/>
            <a:ext cx="15885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1"/>
                </a:solidFill>
              </a:rPr>
              <a:t>Anna Bremensztul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1"/>
                </a:solidFill>
              </a:rPr>
              <a:t>20246262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94" name="Google Shape;294;p37"/>
          <p:cNvSpPr/>
          <p:nvPr/>
        </p:nvSpPr>
        <p:spPr>
          <a:xfrm>
            <a:off x="2909850" y="1138150"/>
            <a:ext cx="1620000" cy="895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37"/>
          <p:cNvSpPr/>
          <p:nvPr/>
        </p:nvSpPr>
        <p:spPr>
          <a:xfrm>
            <a:off x="2909500" y="1138150"/>
            <a:ext cx="16200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frit2x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6" name="Google Shape;296;p37"/>
          <p:cNvSpPr txBox="1"/>
          <p:nvPr>
            <p:ph idx="4294967295" type="body"/>
          </p:nvPr>
        </p:nvSpPr>
        <p:spPr>
          <a:xfrm>
            <a:off x="2910150" y="1633500"/>
            <a:ext cx="1620000" cy="189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1"/>
                </a:solidFill>
              </a:rPr>
              <a:t>Heike Fritz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297" name="Google Shape;297;p37"/>
          <p:cNvSpPr/>
          <p:nvPr/>
        </p:nvSpPr>
        <p:spPr>
          <a:xfrm>
            <a:off x="6360000" y="1136400"/>
            <a:ext cx="1620000" cy="895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8" name="Google Shape;298;p37"/>
          <p:cNvSpPr/>
          <p:nvPr/>
        </p:nvSpPr>
        <p:spPr>
          <a:xfrm>
            <a:off x="6360000" y="1136400"/>
            <a:ext cx="1620000" cy="3084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rPr>
              <a:t>verakmr</a:t>
            </a:r>
            <a:endParaRPr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299" name="Google Shape;299;p37"/>
          <p:cNvSpPr txBox="1"/>
          <p:nvPr>
            <p:ph idx="4294967295" type="body"/>
          </p:nvPr>
        </p:nvSpPr>
        <p:spPr>
          <a:xfrm>
            <a:off x="6391500" y="1513250"/>
            <a:ext cx="1588500" cy="452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1"/>
                </a:solidFill>
              </a:rPr>
              <a:t>Vera Kammerer 20236482</a:t>
            </a:r>
            <a:endParaRPr sz="1500">
              <a:solidFill>
                <a:schemeClr val="dk1"/>
              </a:solidFill>
            </a:endParaRPr>
          </a:p>
        </p:txBody>
      </p:sp>
      <p:sp>
        <p:nvSpPr>
          <p:cNvPr id="300" name="Google Shape;300;p37"/>
          <p:cNvSpPr/>
          <p:nvPr/>
        </p:nvSpPr>
        <p:spPr>
          <a:xfrm>
            <a:off x="4627842" y="2156075"/>
            <a:ext cx="1620000" cy="180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37"/>
          <p:cNvSpPr/>
          <p:nvPr/>
        </p:nvSpPr>
        <p:spPr>
          <a:xfrm>
            <a:off x="1164425" y="2158163"/>
            <a:ext cx="1620000" cy="180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2" name="Google Shape;302;p37"/>
          <p:cNvSpPr/>
          <p:nvPr/>
        </p:nvSpPr>
        <p:spPr>
          <a:xfrm>
            <a:off x="2896133" y="2160250"/>
            <a:ext cx="1620000" cy="180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7"/>
          <p:cNvSpPr/>
          <p:nvPr/>
        </p:nvSpPr>
        <p:spPr>
          <a:xfrm>
            <a:off x="6359550" y="2153988"/>
            <a:ext cx="1620000" cy="18000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37"/>
          <p:cNvSpPr txBox="1"/>
          <p:nvPr>
            <p:ph idx="4294967295" type="body"/>
          </p:nvPr>
        </p:nvSpPr>
        <p:spPr>
          <a:xfrm>
            <a:off x="4627850" y="2169575"/>
            <a:ext cx="1620000" cy="17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1"/>
                </a:solidFill>
              </a:rPr>
              <a:t>Steuerung in UNITY (WASD, Maus),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1"/>
                </a:solidFill>
              </a:rPr>
              <a:t>Kollisions- Steuerung &amp; Erkennung, ToolTip, Abschluss- präsentation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05" name="Google Shape;305;p37"/>
          <p:cNvSpPr txBox="1"/>
          <p:nvPr>
            <p:ph idx="4294967295" type="body"/>
          </p:nvPr>
        </p:nvSpPr>
        <p:spPr>
          <a:xfrm>
            <a:off x="1164425" y="2165524"/>
            <a:ext cx="1620000" cy="17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1"/>
                </a:solidFill>
              </a:rPr>
              <a:t>GitHub erstellt, Einladungen, Dokument Einreichung,</a:t>
            </a:r>
            <a:endParaRPr sz="1300">
              <a:solidFill>
                <a:schemeClr val="dk1"/>
              </a:solidFill>
            </a:endParaRPr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1"/>
                </a:solidFill>
              </a:rPr>
              <a:t>Konzept- präsentation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06" name="Google Shape;306;p37"/>
          <p:cNvSpPr txBox="1"/>
          <p:nvPr>
            <p:ph idx="4294967295" type="body"/>
          </p:nvPr>
        </p:nvSpPr>
        <p:spPr>
          <a:xfrm>
            <a:off x="2896125" y="2164774"/>
            <a:ext cx="1620000" cy="17223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1"/>
                </a:solidFill>
              </a:rPr>
              <a:t>Recherche Texturen und Verwendung in UNITY, Einbindung Technikum, Test und Umsetzung mit MetaQuest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07" name="Google Shape;307;p37"/>
          <p:cNvSpPr txBox="1"/>
          <p:nvPr>
            <p:ph idx="4294967295" type="body"/>
          </p:nvPr>
        </p:nvSpPr>
        <p:spPr>
          <a:xfrm>
            <a:off x="6359550" y="2154025"/>
            <a:ext cx="1620000" cy="173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1"/>
                </a:solidFill>
              </a:rPr>
              <a:t>Konzept- finalisierung, Skizzierung Dokumentation, Recherche Haptik </a:t>
            </a:r>
            <a:r>
              <a:rPr lang="de" sz="1300">
                <a:solidFill>
                  <a:schemeClr val="dk1"/>
                </a:solidFill>
              </a:rPr>
              <a:t>UNITY</a:t>
            </a:r>
            <a:r>
              <a:rPr lang="de" sz="1300">
                <a:solidFill>
                  <a:schemeClr val="dk1"/>
                </a:solidFill>
              </a:rPr>
              <a:t>, Tests mit Meta Quest (jedoch fehlgeschlagen)</a:t>
            </a:r>
            <a:endParaRPr sz="1300">
              <a:solidFill>
                <a:schemeClr val="dk1"/>
              </a:solidFill>
            </a:endParaRPr>
          </a:p>
        </p:txBody>
      </p:sp>
      <p:sp>
        <p:nvSpPr>
          <p:cNvPr id="308" name="Google Shape;308;p37"/>
          <p:cNvSpPr/>
          <p:nvPr/>
        </p:nvSpPr>
        <p:spPr>
          <a:xfrm>
            <a:off x="1164450" y="4080600"/>
            <a:ext cx="6815100" cy="7425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37"/>
          <p:cNvSpPr txBox="1"/>
          <p:nvPr>
            <p:ph idx="4294967295" type="body"/>
          </p:nvPr>
        </p:nvSpPr>
        <p:spPr>
          <a:xfrm>
            <a:off x="1164425" y="4080600"/>
            <a:ext cx="6815100" cy="74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300">
                <a:solidFill>
                  <a:schemeClr val="dk1"/>
                </a:solidFill>
              </a:rPr>
              <a:t>Konzept Erstellung, Festlegen einer Projektstruktur, wöchentliche Meetings zum Austausch der Erkenntnisse, Integration der Objekte in das Technikum, </a:t>
            </a:r>
            <a:r>
              <a:rPr lang="de" sz="1300">
                <a:solidFill>
                  <a:schemeClr val="dk1"/>
                </a:solidFill>
              </a:rPr>
              <a:t>Anpassung Konzept für Abgabe (Dokumentation), Finaler Test mit MetaQuest in Live-Session</a:t>
            </a:r>
            <a:endParaRPr sz="13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descr="Form des Hintergrundpointers in der Zeitachsengrafik" id="314" name="Google Shape;314;p38"/>
          <p:cNvSpPr/>
          <p:nvPr/>
        </p:nvSpPr>
        <p:spPr>
          <a:xfrm>
            <a:off x="340925" y="2838775"/>
            <a:ext cx="1872300" cy="607800"/>
          </a:xfrm>
          <a:prstGeom prst="homePlate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38"/>
          <p:cNvSpPr txBox="1"/>
          <p:nvPr>
            <p:ph idx="4294967295" type="body"/>
          </p:nvPr>
        </p:nvSpPr>
        <p:spPr>
          <a:xfrm>
            <a:off x="340925" y="2959278"/>
            <a:ext cx="1455600" cy="41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lt1"/>
                </a:solidFill>
              </a:rPr>
              <a:t>Woche: 1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316" name="Google Shape;316;p38"/>
          <p:cNvGrpSpPr/>
          <p:nvPr/>
        </p:nvGrpSpPr>
        <p:grpSpPr>
          <a:xfrm>
            <a:off x="969275" y="2322906"/>
            <a:ext cx="198900" cy="520043"/>
            <a:chOff x="777447" y="1610215"/>
            <a:chExt cx="198900" cy="593656"/>
          </a:xfrm>
        </p:grpSpPr>
        <p:cxnSp>
          <p:nvCxnSpPr>
            <p:cNvPr id="317" name="Google Shape;317;p38"/>
            <p:cNvCxnSpPr/>
            <p:nvPr/>
          </p:nvCxnSpPr>
          <p:spPr>
            <a:xfrm>
              <a:off x="876909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18" name="Google Shape;318;p38"/>
            <p:cNvSpPr/>
            <p:nvPr/>
          </p:nvSpPr>
          <p:spPr>
            <a:xfrm>
              <a:off x="777447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9" name="Google Shape;319;p38"/>
          <p:cNvSpPr txBox="1"/>
          <p:nvPr>
            <p:ph idx="4294967295" type="body"/>
          </p:nvPr>
        </p:nvSpPr>
        <p:spPr>
          <a:xfrm>
            <a:off x="318375" y="1017800"/>
            <a:ext cx="2565300" cy="13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/>
              <a:t>Konzept &amp; Tool- Einrichtung, Pathway in UNITY, um sich mit dem Programm vertraut zu machen.</a:t>
            </a:r>
            <a:endParaRPr sz="1500"/>
          </a:p>
        </p:txBody>
      </p:sp>
      <p:sp>
        <p:nvSpPr>
          <p:cNvPr descr="Form des Hintergrundpointers in der Zeitachsengrafik" id="320" name="Google Shape;320;p38"/>
          <p:cNvSpPr/>
          <p:nvPr/>
        </p:nvSpPr>
        <p:spPr>
          <a:xfrm>
            <a:off x="1817050" y="2838775"/>
            <a:ext cx="20511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38"/>
          <p:cNvSpPr txBox="1"/>
          <p:nvPr>
            <p:ph idx="4294967295" type="body"/>
          </p:nvPr>
        </p:nvSpPr>
        <p:spPr>
          <a:xfrm>
            <a:off x="2126321" y="2959278"/>
            <a:ext cx="1315500" cy="41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lt1"/>
                </a:solidFill>
              </a:rPr>
              <a:t>2-3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322" name="Google Shape;322;p38"/>
          <p:cNvGrpSpPr/>
          <p:nvPr/>
        </p:nvGrpSpPr>
        <p:grpSpPr>
          <a:xfrm>
            <a:off x="2684634" y="3446583"/>
            <a:ext cx="198900" cy="520043"/>
            <a:chOff x="2223534" y="2938958"/>
            <a:chExt cx="198900" cy="593656"/>
          </a:xfrm>
        </p:grpSpPr>
        <p:cxnSp>
          <p:nvCxnSpPr>
            <p:cNvPr id="323" name="Google Shape;323;p38"/>
            <p:cNvCxnSpPr/>
            <p:nvPr/>
          </p:nvCxnSpPr>
          <p:spPr>
            <a:xfrm rot="10800000">
              <a:off x="2322997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24" name="Google Shape;324;p38"/>
            <p:cNvSpPr/>
            <p:nvPr/>
          </p:nvSpPr>
          <p:spPr>
            <a:xfrm flipH="1" rot="10800000">
              <a:off x="2223534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5" name="Google Shape;325;p38"/>
          <p:cNvSpPr txBox="1"/>
          <p:nvPr>
            <p:ph idx="4294967295" type="body"/>
          </p:nvPr>
        </p:nvSpPr>
        <p:spPr>
          <a:xfrm>
            <a:off x="1009425" y="3962550"/>
            <a:ext cx="35493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de" sz="1500"/>
              <a:t>Pathway in UNITY, Projektstruktur, e</a:t>
            </a:r>
            <a:r>
              <a:rPr lang="de" sz="1500"/>
              <a:t>rste Prototypen in Blender, Auswahl geeigneter Texturen und Sounds.</a:t>
            </a:r>
            <a:endParaRPr sz="1500"/>
          </a:p>
        </p:txBody>
      </p:sp>
      <p:sp>
        <p:nvSpPr>
          <p:cNvPr descr="Form des Hintergrundpointers in der Zeitachsengrafik" id="326" name="Google Shape;326;p38"/>
          <p:cNvSpPr/>
          <p:nvPr/>
        </p:nvSpPr>
        <p:spPr>
          <a:xfrm>
            <a:off x="3471975" y="2838775"/>
            <a:ext cx="20511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38"/>
          <p:cNvSpPr txBox="1"/>
          <p:nvPr>
            <p:ph idx="4294967295" type="body"/>
          </p:nvPr>
        </p:nvSpPr>
        <p:spPr>
          <a:xfrm>
            <a:off x="3767761" y="2959278"/>
            <a:ext cx="1315500" cy="41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lt1"/>
                </a:solidFill>
              </a:rPr>
              <a:t>4-6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328" name="Google Shape;328;p38"/>
          <p:cNvGrpSpPr/>
          <p:nvPr/>
        </p:nvGrpSpPr>
        <p:grpSpPr>
          <a:xfrm>
            <a:off x="4319547" y="2322930"/>
            <a:ext cx="198900" cy="520043"/>
            <a:chOff x="3918084" y="1610215"/>
            <a:chExt cx="198900" cy="593656"/>
          </a:xfrm>
        </p:grpSpPr>
        <p:cxnSp>
          <p:nvCxnSpPr>
            <p:cNvPr id="329" name="Google Shape;329;p38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0" name="Google Shape;330;p38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1" name="Google Shape;331;p38"/>
          <p:cNvSpPr txBox="1"/>
          <p:nvPr>
            <p:ph idx="4294967295" type="body"/>
          </p:nvPr>
        </p:nvSpPr>
        <p:spPr>
          <a:xfrm>
            <a:off x="3161750" y="1017800"/>
            <a:ext cx="3124800" cy="13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de" sz="1500"/>
              <a:t>Integration von Sound,  Texturen, Interaktionen, Kollisionen. Bewegungssteuerung in UNITY allgemein.</a:t>
            </a:r>
            <a:endParaRPr sz="1500"/>
          </a:p>
        </p:txBody>
      </p:sp>
      <p:sp>
        <p:nvSpPr>
          <p:cNvPr descr="Form des Hintergrundpointers in der Zeitachsengrafik" id="332" name="Google Shape;332;p38"/>
          <p:cNvSpPr/>
          <p:nvPr/>
        </p:nvSpPr>
        <p:spPr>
          <a:xfrm>
            <a:off x="5126900" y="2838775"/>
            <a:ext cx="20511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3" name="Google Shape;333;p38"/>
          <p:cNvSpPr txBox="1"/>
          <p:nvPr>
            <p:ph idx="4294967295" type="body"/>
          </p:nvPr>
        </p:nvSpPr>
        <p:spPr>
          <a:xfrm>
            <a:off x="5416708" y="2959278"/>
            <a:ext cx="1315500" cy="41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lt1"/>
                </a:solidFill>
              </a:rPr>
              <a:t>7-9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334" name="Google Shape;334;p38"/>
          <p:cNvGrpSpPr/>
          <p:nvPr/>
        </p:nvGrpSpPr>
        <p:grpSpPr>
          <a:xfrm>
            <a:off x="5974996" y="3446583"/>
            <a:ext cx="198900" cy="520043"/>
            <a:chOff x="5958946" y="2938958"/>
            <a:chExt cx="198900" cy="593656"/>
          </a:xfrm>
        </p:grpSpPr>
        <p:cxnSp>
          <p:nvCxnSpPr>
            <p:cNvPr id="335" name="Google Shape;335;p38"/>
            <p:cNvCxnSpPr/>
            <p:nvPr/>
          </p:nvCxnSpPr>
          <p:spPr>
            <a:xfrm rot="10800000">
              <a:off x="6058409" y="2938958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36" name="Google Shape;336;p38"/>
            <p:cNvSpPr/>
            <p:nvPr/>
          </p:nvSpPr>
          <p:spPr>
            <a:xfrm flipH="1" rot="10800000">
              <a:off x="5958946" y="3333714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37" name="Google Shape;337;p38"/>
          <p:cNvSpPr txBox="1"/>
          <p:nvPr>
            <p:ph idx="4294967295" type="body"/>
          </p:nvPr>
        </p:nvSpPr>
        <p:spPr>
          <a:xfrm>
            <a:off x="4776625" y="3962550"/>
            <a:ext cx="3650400" cy="91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/>
              <a:t>Bewegungssteuerung, </a:t>
            </a:r>
            <a:r>
              <a:rPr lang="de" sz="1500"/>
              <a:t>Umzug in das Technikum, </a:t>
            </a:r>
            <a:r>
              <a:rPr lang="de" sz="1500"/>
              <a:t>Projekt Synchronisierung</a:t>
            </a:r>
            <a:r>
              <a:rPr lang="de" sz="1500"/>
              <a:t>, Projektstruktur</a:t>
            </a:r>
            <a:endParaRPr sz="1500">
              <a:solidFill>
                <a:srgbClr val="1F2328"/>
              </a:solidFill>
              <a:highlight>
                <a:srgbClr val="FFFFFF"/>
              </a:highlight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500"/>
          </a:p>
        </p:txBody>
      </p:sp>
      <p:sp>
        <p:nvSpPr>
          <p:cNvPr descr="Form des Hintergrundpointers in der Zeitachsengrafik" id="338" name="Google Shape;338;p38"/>
          <p:cNvSpPr/>
          <p:nvPr/>
        </p:nvSpPr>
        <p:spPr>
          <a:xfrm>
            <a:off x="6781825" y="2838775"/>
            <a:ext cx="2051100" cy="607800"/>
          </a:xfrm>
          <a:prstGeom prst="chevron">
            <a:avLst>
              <a:gd fmla="val 50000" name="adj"/>
            </a:avLst>
          </a:prstGeom>
          <a:solidFill>
            <a:schemeClr val="dk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121875" lIns="121875" spcFirstLastPara="1" rIns="121875" wrap="square" tIns="1218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9" name="Google Shape;339;p38"/>
          <p:cNvSpPr txBox="1"/>
          <p:nvPr>
            <p:ph idx="4294967295" type="body"/>
          </p:nvPr>
        </p:nvSpPr>
        <p:spPr>
          <a:xfrm>
            <a:off x="7111523" y="2959278"/>
            <a:ext cx="1315500" cy="412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600">
                <a:solidFill>
                  <a:schemeClr val="lt1"/>
                </a:solidFill>
              </a:rPr>
              <a:t>10</a:t>
            </a:r>
            <a:endParaRPr sz="1600">
              <a:solidFill>
                <a:schemeClr val="lt1"/>
              </a:solidFill>
            </a:endParaRPr>
          </a:p>
        </p:txBody>
      </p:sp>
      <p:grpSp>
        <p:nvGrpSpPr>
          <p:cNvPr id="340" name="Google Shape;340;p38"/>
          <p:cNvGrpSpPr/>
          <p:nvPr/>
        </p:nvGrpSpPr>
        <p:grpSpPr>
          <a:xfrm>
            <a:off x="7669814" y="2322930"/>
            <a:ext cx="198900" cy="520043"/>
            <a:chOff x="3918084" y="1610215"/>
            <a:chExt cx="198900" cy="593656"/>
          </a:xfrm>
        </p:grpSpPr>
        <p:cxnSp>
          <p:nvCxnSpPr>
            <p:cNvPr id="341" name="Google Shape;341;p38"/>
            <p:cNvCxnSpPr/>
            <p:nvPr/>
          </p:nvCxnSpPr>
          <p:spPr>
            <a:xfrm>
              <a:off x="4017546" y="1649171"/>
              <a:ext cx="0" cy="554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</p:cxnSp>
        <p:sp>
          <p:nvSpPr>
            <p:cNvPr id="342" name="Google Shape;342;p38"/>
            <p:cNvSpPr/>
            <p:nvPr/>
          </p:nvSpPr>
          <p:spPr>
            <a:xfrm>
              <a:off x="3918084" y="1610215"/>
              <a:ext cx="198900" cy="1989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3" name="Google Shape;343;p38"/>
          <p:cNvSpPr txBox="1"/>
          <p:nvPr>
            <p:ph idx="4294967295" type="body"/>
          </p:nvPr>
        </p:nvSpPr>
        <p:spPr>
          <a:xfrm>
            <a:off x="6556725" y="1017800"/>
            <a:ext cx="2372100" cy="13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de" sz="1500"/>
              <a:t>Vorbereitung der Abgabe &amp; Abschlusspräsentation</a:t>
            </a:r>
            <a:endParaRPr sz="1500"/>
          </a:p>
        </p:txBody>
      </p:sp>
      <p:sp>
        <p:nvSpPr>
          <p:cNvPr id="344" name="Google Shape;344;p38"/>
          <p:cNvSpPr txBox="1"/>
          <p:nvPr>
            <p:ph idx="4294967295"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Projektplan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p39"/>
          <p:cNvSpPr txBox="1"/>
          <p:nvPr>
            <p:ph type="title"/>
          </p:nvPr>
        </p:nvSpPr>
        <p:spPr>
          <a:xfrm>
            <a:off x="311700" y="410000"/>
            <a:ext cx="8520600" cy="60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Eingesetzte Tools und Assets</a:t>
            </a:r>
            <a:endParaRPr/>
          </a:p>
        </p:txBody>
      </p:sp>
      <p:sp>
        <p:nvSpPr>
          <p:cNvPr id="350" name="Google Shape;350;p39"/>
          <p:cNvSpPr txBox="1"/>
          <p:nvPr/>
        </p:nvSpPr>
        <p:spPr>
          <a:xfrm>
            <a:off x="311700" y="1162500"/>
            <a:ext cx="8520600" cy="380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b="1"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3D-Modelle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Erstellung der Objekte in BLENDER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Import und weitere Bearbeitung der Objekte in UNITY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b="1"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Texturen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Nutzung von kostenlosen Texturen z.B. von </a:t>
            </a:r>
            <a:r>
              <a:rPr lang="de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3"/>
              </a:rPr>
              <a:t>Free PBR Textures - Poliigon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Eigene Fotos (Sandpapier)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b="1"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Sound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Nutzung von kostenlosen Sounddateien z.B. von </a:t>
            </a:r>
            <a:r>
              <a:rPr lang="de" sz="1800" u="sng">
                <a:solidFill>
                  <a:schemeClr val="hlink"/>
                </a:solidFill>
                <a:latin typeface="Roboto"/>
                <a:ea typeface="Roboto"/>
                <a:cs typeface="Roboto"/>
                <a:sym typeface="Roboto"/>
                <a:hlinkClick r:id="rId4"/>
              </a:rPr>
              <a:t>100,000+ Free Sound Effects for Download - Pixabay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●"/>
            </a:pPr>
            <a:r>
              <a:rPr b="1"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Haptik</a:t>
            </a:r>
            <a:endParaRPr b="1"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Roboto"/>
              <a:buChar char="○"/>
            </a:pPr>
            <a:r>
              <a:rPr lang="de" sz="1800">
                <a:solidFill>
                  <a:schemeClr val="dk2"/>
                </a:solidFill>
                <a:latin typeface="Roboto"/>
                <a:ea typeface="Roboto"/>
                <a:cs typeface="Roboto"/>
                <a:sym typeface="Roboto"/>
              </a:rPr>
              <a:t>Haptik Feedbacks über das UNITY XR Interaction Toolkid, sowie eigenen Scripten z.B. zur Kollisionserkennung und der Steuerung via Maus (XR Simulation)</a:t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Geometric">
  <a:themeElements>
    <a:clrScheme name="Geometric">
      <a:dk1>
        <a:srgbClr val="2A3990"/>
      </a:dk1>
      <a:lt1>
        <a:srgbClr val="FFFFFF"/>
      </a:lt1>
      <a:dk2>
        <a:srgbClr val="434343"/>
      </a:dk2>
      <a:lt2>
        <a:srgbClr val="999999"/>
      </a:lt2>
      <a:accent1>
        <a:srgbClr val="212D74"/>
      </a:accent1>
      <a:accent2>
        <a:srgbClr val="3949AB"/>
      </a:accent2>
      <a:accent3>
        <a:srgbClr val="9C254D"/>
      </a:accent3>
      <a:accent4>
        <a:srgbClr val="D23369"/>
      </a:accent4>
      <a:accent5>
        <a:srgbClr val="F06292"/>
      </a:accent5>
      <a:accent6>
        <a:srgbClr val="7890CD"/>
      </a:accent6>
      <a:hlink>
        <a:srgbClr val="F06292"/>
      </a:hlink>
      <a:folHlink>
        <a:srgbClr val="F0629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